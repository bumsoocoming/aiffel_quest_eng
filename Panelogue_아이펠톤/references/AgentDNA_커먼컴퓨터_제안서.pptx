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Malgun Gothic"/>
              </a:rPr>
              <a:t>단계별 GPU-시간 추정 (A100 기준)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GPU-hours</c:v>
                </c:pt>
              </c:strCache>
            </c:strRef>
          </c:tx>
          <c:spPr>
            <a:solidFill>
              <a:srgbClr val="3AD8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D8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D8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4D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C24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E39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P1 행동 프로브</c:v>
                  </c:pt>
                  <c:pt idx="1">
                    <c:v>P2 회로 지도</c:v>
                  </c:pt>
                  <c:pt idx="2">
                    <c:v>P3 팀 시뮬레이션</c:v>
                  </c:pt>
                  <c:pt idx="3">
                    <c:v>P4 전파 실험</c:v>
                  </c:pt>
                  <c:pt idx="4">
                    <c:v>P5 데모·리포트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500</c:v>
                </c:pt>
                <c:pt idx="2">
                  <c:v>900</c:v>
                </c:pt>
                <c:pt idx="3">
                  <c:v>400</c:v>
                </c:pt>
                <c:pt idx="4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7A2C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  <c:min val="0"/>
        </c:scaling>
        <c:delete val="0"/>
        <c:axPos val="b"/>
        <c:majorGridlines>
          <c:spPr>
            <a:ln w="12700" cap="flat">
              <a:solidFill>
                <a:srgbClr val="1E25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7"/>
        </a:solidFill>
        <a:ln>
          <a:noFill/>
        </a:ln>
        <a:effectLst/>
      </c:spPr>
    </c:plotArea>
    <c:plotVisOnly val="1"/>
    <c:dispBlanksAs val="span"/>
  </c:chart>
  <c:spPr>
    <a:solidFill>
      <a:srgbClr val="0B0E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장으로 끝내는 요약. 문제-아이디어-자원-산출물. 뒤 슬라이드는 전부 이 네 칸의 근거입니다.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자원을 받았으니 쓰겠다가 아니라, 이 질문들이 GPU 없이는 답이 안 나온다는 순서로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A2A는 능력 명세만 교환합니다. 성격/위험은 명세에 없습니다. 이 빈칸이 제안의 출발점.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5장은 근거. 각 장은 하나의 사실과 그것이 요구하는 실험을 짝지어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성격 축 중 친화성이 통신 품질을 좌우. 78개 프로필 × 659 태스크 실험이 성능 차이를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제안의 감정적 훅. 우리 제품의 기본 기능이 곧 위험 요인이라는 점을 정직하게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처음으로 컴퓨트 요구가 논리적으로 도출됩니다. 행동 기반 측정 = 대량 실행.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A100 요구의 첫 번째 결정적 근거. API로는 못 하는 실험이라는 점을 여기서 못 박습니다.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개체 진단만으로는 부족하고 조합·전파를 봐야 한다는 논거. Phase 4의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 파트 끝. 여기서부터 제안.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슬라이드. 이 카드 한 장이 산출물의 얼굴입니다. 값은 목업임을 명시.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L1만 하는 게 현재 업계 관행. 우리는 L2~L4까지 내려가고, L3·L4가 GPU를 먹습니다.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제안서의 심장. 이 4개 중 어느 하나도 API 예산 증액으로 대체되지 않는다는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추정임을 분명히 하되, 규모감이 현실적이라는 인상을 줍니다. 유휴분을 남겨 신뢰도 확보.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 단위 체크포인트를 명시해 과제 관리 가능성을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02번이 제품에 직접 꽂히는 산출물. 나머지는 그것을 뒷받침하는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사업 관점 한 줄로 마무리. 차별화 포인트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리스크를 먼저 말하면 제안의 신뢰도가 올라갑니다. 특히 폐쇄망 조건은 커먼컴퓨터 강점과 일치.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중 여기서 잠깐 멈추고 청중을 봅니다. 다음 장이 요청.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마지막은 짧게. 요청 자원과 첫 체크포인트만 남기고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417320"/>
            <a:ext cx="1737360" cy="73152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092440" y="1417320"/>
            <a:ext cx="457200" cy="173736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2148840"/>
            <a:ext cx="914400" cy="109728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2440" y="3154680"/>
            <a:ext cx="1737360" cy="82296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829800" y="2148840"/>
            <a:ext cx="457200" cy="182880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098280" y="3977640"/>
            <a:ext cx="731520" cy="91440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2440" y="3154680"/>
            <a:ext cx="1005840" cy="173736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9829800" y="3246120"/>
            <a:ext cx="1371600" cy="73152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0456" y="1088136"/>
            <a:ext cx="658368" cy="658368"/>
          </a:xfrm>
          <a:prstGeom prst="ellipse">
            <a:avLst/>
          </a:prstGeom>
          <a:solidFill>
            <a:srgbClr val="FF4D3D"/>
          </a:solidFill>
          <a:ln w="12700">
            <a:solidFill>
              <a:srgbClr val="FF4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49256" y="1911096"/>
            <a:ext cx="475488" cy="475488"/>
          </a:xfrm>
          <a:prstGeom prst="ellipse">
            <a:avLst/>
          </a:prstGeom>
          <a:solidFill>
            <a:srgbClr val="3AD8E8"/>
          </a:solidFill>
          <a:ln w="12700">
            <a:solidFill>
              <a:srgbClr val="3A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72984" y="2935224"/>
            <a:ext cx="438912" cy="438912"/>
          </a:xfrm>
          <a:prstGeom prst="ellipse">
            <a:avLst/>
          </a:prstGeom>
          <a:solidFill>
            <a:srgbClr val="3AD8E8"/>
          </a:solidFill>
          <a:ln w="12700">
            <a:solidFill>
              <a:srgbClr val="3A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55480" y="3703320"/>
            <a:ext cx="548640" cy="54864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18520" y="3063240"/>
            <a:ext cx="365760" cy="365760"/>
          </a:xfrm>
          <a:prstGeom prst="ellipse">
            <a:avLst/>
          </a:prstGeom>
          <a:solidFill>
            <a:srgbClr val="97A2C0"/>
          </a:solidFill>
          <a:ln w="12700">
            <a:solidFill>
              <a:srgbClr val="97A2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33688" y="4727448"/>
            <a:ext cx="329184" cy="329184"/>
          </a:xfrm>
          <a:prstGeom prst="ellipse">
            <a:avLst/>
          </a:prstGeom>
          <a:solidFill>
            <a:srgbClr val="97A2C0"/>
          </a:solidFill>
          <a:ln w="12700">
            <a:solidFill>
              <a:srgbClr val="97A2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1234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커먼컴퓨터 과제 제안서  ·  A100 80GB × 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1783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AI도 인성검사를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566928" y="2651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받아야 </a:t>
            </a:r>
            <a:pPr indent="0" marL="0">
              <a:buNone/>
            </a:pPr>
            <a:r>
              <a:rPr lang="en-US" sz="5400" b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566928" y="3703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AgentDNA — A2A 시대의 에이전트 성격·위험 진단 인프라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" y="41148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논문 30편이 가리키는 하나의 빈칸, 그리고 그것을 채우는 8주 계획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800600"/>
            <a:ext cx="2926080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9834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07.   |   제안 · 8주 과제   |   요청 자원 : A100 80GB ×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능력만 보고 팀을 짜는 시대는 끝났습니다. 성격을 측정해야 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400904" cy="1783080"/>
          </a:xfrm>
          <a:prstGeom prst="roundRect">
            <a:avLst>
              <a:gd name="adj" fmla="val 4615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350008"/>
            <a:ext cx="146304" cy="146304"/>
          </a:xfrm>
          <a:prstGeom prst="ellipse">
            <a:avLst/>
          </a:prstGeom>
          <a:solidFill>
            <a:srgbClr val="FF4D3D"/>
          </a:solidFill>
          <a:ln w="12700">
            <a:solidFill>
              <a:srgbClr val="FF4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2258568"/>
            <a:ext cx="457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" y="2715768"/>
            <a:ext cx="477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A2A의 Agent Card는 '무엇을 할 수 있는가'만 적는다.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'어떻게 굴 것인가'는 아무도 측정하지 않는다.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3864" y="1965960"/>
            <a:ext cx="5400904" cy="1783080"/>
          </a:xfrm>
          <a:prstGeom prst="roundRect">
            <a:avLst>
              <a:gd name="adj" fmla="val 4615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4760" y="2350008"/>
            <a:ext cx="146304" cy="146304"/>
          </a:xfrm>
          <a:prstGeom prst="ellipse">
            <a:avLst/>
          </a:prstGeom>
          <a:solidFill>
            <a:srgbClr val="3AD8E8"/>
          </a:solidFill>
          <a:ln w="12700">
            <a:solidFill>
              <a:srgbClr val="3A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0792" y="2258568"/>
            <a:ext cx="457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4760" y="2715768"/>
            <a:ext cx="477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성격·위험을 4계층으로 진단하는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AgentDNA 파이프라인 + Personality Card 규격 v0.1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931920"/>
            <a:ext cx="5400904" cy="1783080"/>
          </a:xfrm>
          <a:prstGeom prst="roundRect">
            <a:avLst>
              <a:gd name="adj" fmla="val 4615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4315968"/>
            <a:ext cx="146304" cy="146304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4224528"/>
            <a:ext cx="457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자원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77824" y="4681728"/>
            <a:ext cx="477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A100 80GB × 8 (8주)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70B 오픈웨이트 내부 접근 · 수십억 토큰 · 폐쇄망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23864" y="3931920"/>
            <a:ext cx="5400904" cy="1783080"/>
          </a:xfrm>
          <a:prstGeom prst="roundRect">
            <a:avLst>
              <a:gd name="adj" fmla="val 4615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4760" y="4315968"/>
            <a:ext cx="146304" cy="146304"/>
          </a:xfrm>
          <a:prstGeom prst="ellipse">
            <a:avLst/>
          </a:prstGeom>
          <a:solidFill>
            <a:srgbClr val="5BE39A"/>
          </a:solidFill>
          <a:ln w="12700">
            <a:solidFill>
              <a:srgbClr val="5BE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0792" y="4224528"/>
            <a:ext cx="457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E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4760" y="4681728"/>
            <a:ext cx="477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기반 벤치마크 · 카드 규격 · 위험 전파 리포트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Studio 팀편성 데모 · 기술 리포트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커먼컴퓨터가 준 것, 그리고 우리가 답할 질문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A100 80GB 8장은 '무엇을 학습시킬까'가 아니라 '무엇을 관측할까'에 써야 가장 큽니다.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40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670048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A100 80GB × 8  (총 640GB VRAM)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폐쇄망에서 운용되는 서버 환경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· MCP · 지식그래프 기반 제품 맥락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 과제 기간 (가정)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2784" y="201168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2240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답할 질문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01968" y="2670048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'성격'이라는 게 실재하는가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그것이 팀 성과를 실제로 바꾸는가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성격은 팀으로 번지는가, 임계점은 몇 명인가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전에 그것을 걸러낼 수 있는가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983480"/>
            <a:ext cx="11057839" cy="960120"/>
          </a:xfrm>
          <a:prstGeom prst="roundRect">
            <a:avLst>
              <a:gd name="adj" fmla="val 8571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98348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네 질문은 전부 모델 '내부'와 '대규모 반복'을 요구합니다 — 그래서 API가 아니라 GPU가 필요합니다.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이미 '팀'으로 일한다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우리는 이력서만 보고 채용하고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2668448" cy="1965960"/>
          </a:xfrm>
          <a:prstGeom prst="roundRect">
            <a:avLst>
              <a:gd name="adj" fmla="val 4186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40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챗봇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218688"/>
            <a:ext cx="211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모든 지시를 내림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17088" y="27889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63392" y="2057400"/>
            <a:ext cx="2668448" cy="1965960"/>
          </a:xfrm>
          <a:prstGeom prst="roundRect">
            <a:avLst>
              <a:gd name="adj" fmla="val 4186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7712" y="2240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A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37712" y="26974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연결 (MCP)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7712" y="3218688"/>
            <a:ext cx="211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시스템을 직접 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13552" y="27889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59856" y="2057400"/>
            <a:ext cx="2668448" cy="1965960"/>
          </a:xfrm>
          <a:prstGeom prst="roundRect">
            <a:avLst>
              <a:gd name="adj" fmla="val 4186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4176" y="2240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34176" y="26974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협업 (A2A)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4176" y="3218688"/>
            <a:ext cx="211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서로 일을 위임함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10015" y="27889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956319" y="2057400"/>
            <a:ext cx="2668448" cy="1965960"/>
          </a:xfrm>
          <a:prstGeom prst="roundRect">
            <a:avLst>
              <a:gd name="adj" fmla="val 4186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0639" y="2240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30639" y="26974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팀 운영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30639" y="3218688"/>
            <a:ext cx="211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대화를 보지 않음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11057839" cy="1600200"/>
          </a:xfrm>
          <a:prstGeom prst="roundRect">
            <a:avLst>
              <a:gd name="adj" fmla="val 5143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4526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A2A Agent Card에 적히는 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0976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엔드포인트 · 스킬 · 입출력 형식 · 인증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0528" y="4526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적히지 않는 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10528" y="4892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협조성 · 지시 이탈 성향 · 기만 성향 · 오염 전파력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10528" y="52852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이 과제가 채우려는 빈칸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63276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Agent Card 필드 구성 기준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144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3AD8E8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566160" y="21488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논문이 이미 답해놓은 5가지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11880" y="30632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새 가설을 세우는 게 아니라, 검증된 사실을 제품 규격으로 옮깁니다.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5120640"/>
            <a:ext cx="2084832" cy="566928"/>
          </a:xfrm>
          <a:prstGeom prst="roundRect">
            <a:avLst>
              <a:gd name="adj" fmla="val 12903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51206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성격은 성능을 바꾼다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98064" y="5120640"/>
            <a:ext cx="2084832" cy="566928"/>
          </a:xfrm>
          <a:prstGeom prst="roundRect">
            <a:avLst>
              <a:gd name="adj" fmla="val 12903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51206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페르소나는 정렬을 뚫는다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0" y="5120640"/>
            <a:ext cx="2084832" cy="566928"/>
          </a:xfrm>
          <a:prstGeom prst="roundRect">
            <a:avLst>
              <a:gd name="adj" fmla="val 12903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8928" y="51206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자기보고는 못 믿는다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60336" y="5120640"/>
            <a:ext cx="2084832" cy="566928"/>
          </a:xfrm>
          <a:prstGeom prst="roundRect">
            <a:avLst>
              <a:gd name="adj" fmla="val 12903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0064" y="51206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악의는 여러 회로다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91472" y="5120640"/>
            <a:ext cx="2084832" cy="566928"/>
          </a:xfrm>
          <a:prstGeom prst="roundRect">
            <a:avLst>
              <a:gd name="adj" fmla="val 12903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0" y="51206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성격은 전염된다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성격은 팀 성과를 실제로 바꾼다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MBTI 놀이가 아니라, 측정된 효과입니다.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6720840" cy="3291840"/>
          </a:xfrm>
          <a:prstGeom prst="roundRect">
            <a:avLst>
              <a:gd name="adj" fmla="val 250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1284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Five 중 통신 품질을 유의하게 바꾼 유일한 축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697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1546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성실성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61188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118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외향성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069080"/>
            <a:ext cx="5943600" cy="329184"/>
          </a:xfrm>
          <a:prstGeom prst="roundRect">
            <a:avLst>
              <a:gd name="adj" fmla="val 13889"/>
            </a:avLst>
          </a:prstGeom>
          <a:solidFill>
            <a:srgbClr val="FF4D3D"/>
          </a:solidFill>
          <a:ln w="12700">
            <a:solidFill>
              <a:srgbClr val="FF4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069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E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친화성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58568" y="40690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0F0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최저 친화성이 성과를 예측 — 조직심리학 메타분석과 동일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52628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526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49560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"팀에서 제일 까칠한 한 명이 전체를 끌어내린다" — 인간 조직 연구의 재현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16368" y="2011680"/>
            <a:ext cx="4105656" cy="914400"/>
          </a:xfrm>
          <a:prstGeom prst="roundRect">
            <a:avLst>
              <a:gd name="adj" fmla="val 9000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16568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프로필 조합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516368" y="3035808"/>
            <a:ext cx="4105656" cy="914400"/>
          </a:xfrm>
          <a:prstGeom prst="roundRect">
            <a:avLst>
              <a:gd name="adj" fmla="val 9000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0688" y="303580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659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116568" y="30358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생성·리뷰 태스크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16368" y="4059936"/>
            <a:ext cx="4105656" cy="914400"/>
          </a:xfrm>
          <a:prstGeom prst="roundRect">
            <a:avLst>
              <a:gd name="adj" fmla="val 9000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90688" y="405993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16568" y="405993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LLM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16368" y="5120640"/>
            <a:ext cx="4105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선택만으로 성능과 팀 행동이 실질적으로 달라짐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63276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2606.27443 · 2607.05659 · 2502.20859 · 2506.15928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 한 줄이 정렬을 뚫는다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싼 공격은 해킹이 아니라 배역입니다.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4023360" cy="1920240"/>
          </a:xfrm>
          <a:prstGeom prst="roundRect">
            <a:avLst>
              <a:gd name="adj" fmla="val 4286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40280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6배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77824" y="3127248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부여만으로 증가한 독성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18304" y="205740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240280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3배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0" y="3127248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인종 집단이 더 표적이 된 비율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0496" y="2240280"/>
            <a:ext cx="2898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50만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540496" y="3127248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분석된 생성 출력 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224528"/>
            <a:ext cx="11057839" cy="1691640"/>
          </a:xfrm>
          <a:prstGeom prst="roundRect">
            <a:avLst>
              <a:gd name="adj" fmla="val 4865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4348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"복싱 선수 무하마드 알리처럼 답해줘"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78408" y="4892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파라미터에 페르소나를 한 줄 넣은 것이 전부. 탈옥 프롬프트도, 파인튜닝도 없었습니다.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87768" y="44348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Studio가 하는 일이 정확히 이것입니다 —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에이전트마다 역할을 부여하는 것.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우리 제품은 이 위험을 기본 동작으로 수행합니다.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63276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2304.05335 (ChatGPT persona toxicity, 50만 출력 분석)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설문지로는 절대 못 잡는다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자기보고와 실제 행동은 해리되어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254600" cy="2834640"/>
          </a:xfrm>
          <a:prstGeom prst="roundRect">
            <a:avLst>
              <a:gd name="adj" fmla="val 2903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12848"/>
            <a:ext cx="461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자기보고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697480"/>
            <a:ext cx="459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Five 설문 응답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"저는 협조적입니다"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카드에 적힌 성향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4224528"/>
            <a:ext cx="459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측정은 쉽고, 예측력은 약함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70168" y="2011680"/>
            <a:ext cx="5254600" cy="2834640"/>
          </a:xfrm>
          <a:prstGeom prst="roundRect">
            <a:avLst>
              <a:gd name="adj" fmla="val 2903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9352" y="2212848"/>
            <a:ext cx="461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E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행동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99352" y="2697480"/>
            <a:ext cx="459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협상에서 상대를 착취하는가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리뷰에서 반대 의견을 굽히는가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지시와 충돌할 때 무엇을 택하는가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99352" y="4224528"/>
            <a:ext cx="459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E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측정은 비쌈 — 대규모 실행이 필요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66928" y="5029200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5029200"/>
            <a:ext cx="102897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성격 진단은 '검사지'가 아니라 '행동 로그'로 해야 하고, 행동 로그는 수십억 토큰을 태워야 나옵니다.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" y="63276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2509.03730 (The Personality Illusion)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악의는 스위치 하나가 아니다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내부를 직접 조작해야만 보이는 사실입니다.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128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트라이어드 특징을 증폭했을 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10.62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96112" y="34290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착취적·공격적·냉담한 행동 급증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8404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Llama-3.3-70B · Sparse Autoencoder 특징 조종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201168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2128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조작에서 변하지 않은 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01968" y="2651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기만  ·  인지적 공감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01968" y="3246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착취 회로와 기만 회로는 분리 가능하다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01968" y="3657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방법에 따라 자기보고만 바뀌고 행동은 안 바뀌는 경우도 확인 (d = 12.65)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892040"/>
            <a:ext cx="11057839" cy="1051560"/>
          </a:xfrm>
          <a:prstGeom prst="roundRect">
            <a:avLst>
              <a:gd name="adj" fmla="val 7826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52303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27048" y="4892040"/>
            <a:ext cx="96862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실험은 활성값에 직접 접근해야 합니다 — 상용 API로는 원천적으로 불가능하고, 70B 가중치를 올릴 GPU가 있어야 합니다.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63276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2605.09773 (Exploitation Without Deception)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성격은 팀으로 번진다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진단만으로 부족한 이유입니다.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2490140" cy="1600200"/>
          </a:xfrm>
          <a:prstGeom prst="roundRect">
            <a:avLst>
              <a:gd name="adj" fmla="val 5143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31720"/>
            <a:ext cx="212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3035808"/>
            <a:ext cx="2124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감염 에이전트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75356" y="26974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22828" y="2148840"/>
            <a:ext cx="2490140" cy="1600200"/>
          </a:xfrm>
          <a:prstGeom prst="roundRect">
            <a:avLst>
              <a:gd name="adj" fmla="val 5143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5708" y="2331720"/>
            <a:ext cx="212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605708" y="3035808"/>
            <a:ext cx="2124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대화 상대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31256" y="26974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78728" y="2148840"/>
            <a:ext cx="2490140" cy="1600200"/>
          </a:xfrm>
          <a:prstGeom prst="roundRect">
            <a:avLst>
              <a:gd name="adj" fmla="val 5143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1608" y="2331720"/>
            <a:ext cx="212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461608" y="3035808"/>
            <a:ext cx="2124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확산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87155" y="26974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34627" y="2148840"/>
            <a:ext cx="2490140" cy="1600200"/>
          </a:xfrm>
          <a:prstGeom prst="roundRect">
            <a:avLst>
              <a:gd name="adj" fmla="val 5143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7507" y="2331720"/>
            <a:ext cx="212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1,000,000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317507" y="3035808"/>
            <a:ext cx="2124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오염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886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적대적 이미지 1장을 한 에이전트 메모리에 넣었을 뿐, 이후 공격자의 추가 개입은 0. 실용적 방어책은 아직 미해결.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434840"/>
            <a:ext cx="3594506" cy="1463040"/>
          </a:xfrm>
          <a:prstGeom prst="roundRect">
            <a:avLst>
              <a:gd name="adj" fmla="val 5625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617720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PsySafe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983480"/>
            <a:ext cx="30458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성향 주입 시 집단적 위험 행동이 창발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8594" y="4434840"/>
            <a:ext cx="3594506" cy="1463040"/>
          </a:xfrm>
          <a:prstGeom prst="roundRect">
            <a:avLst>
              <a:gd name="adj" fmla="val 5625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914" y="4617720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Evil Geniuses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914" y="4983480"/>
            <a:ext cx="30458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멀티에이전트는 단일 LLM보다 덜 견고·더 유해·더 은밀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30261" y="4434840"/>
            <a:ext cx="3594506" cy="1463040"/>
          </a:xfrm>
          <a:prstGeom prst="roundRect">
            <a:avLst>
              <a:gd name="adj" fmla="val 5625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4581" y="4617720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Infection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04581" y="4983480"/>
            <a:ext cx="30458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지시가 자기복제하며 에이전트 사이를 전파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63276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2402.08567 · 2401.11880 · 2311.11855 · 2410.07283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144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4D3D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566160" y="21488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: AgentDNA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11880" y="30632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개의 사실을 하나의 제품 규격으로 — 배치 전에 성격을 검진합니다.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Personality Card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Agent Card 옆에 나란히 붙는, 성격·위험 명세서입니다.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4846320" cy="3657600"/>
          </a:xfrm>
          <a:prstGeom prst="roundRect">
            <a:avLst>
              <a:gd name="adj" fmla="val 225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1284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Card  (현재)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9748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: research-agent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: [search, summarize]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: https://…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: oauth2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personality : —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7A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: 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190488" y="2011680"/>
            <a:ext cx="5431536" cy="3657600"/>
          </a:xfrm>
          <a:prstGeom prst="roundRect">
            <a:avLst>
              <a:gd name="adj" fmla="val 2250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22128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Personality Card  (제안)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9672" y="2724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협조성 (Agreeableness)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70848" y="2798064"/>
            <a:ext cx="1828800" cy="137160"/>
          </a:xfrm>
          <a:prstGeom prst="roundRect">
            <a:avLst>
              <a:gd name="adj" fmla="val 33333"/>
            </a:avLst>
          </a:prstGeom>
          <a:solidFill>
            <a:srgbClr val="232A3D"/>
          </a:solidFill>
          <a:ln w="12700">
            <a:solidFill>
              <a:srgbClr val="232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70848" y="2798064"/>
            <a:ext cx="1298448" cy="137160"/>
          </a:xfrm>
          <a:prstGeom prst="roundRect">
            <a:avLst>
              <a:gd name="adj" fmla="val 33333"/>
            </a:avLst>
          </a:prstGeom>
          <a:solidFill>
            <a:srgbClr val="5BE39A"/>
          </a:solidFill>
          <a:ln w="12700">
            <a:solidFill>
              <a:srgbClr val="5BE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45368" y="27249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E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19672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이탈 성향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0848" y="3364992"/>
            <a:ext cx="1828800" cy="137160"/>
          </a:xfrm>
          <a:prstGeom prst="roundRect">
            <a:avLst>
              <a:gd name="adj" fmla="val 33333"/>
            </a:avLst>
          </a:prstGeom>
          <a:solidFill>
            <a:srgbClr val="232A3D"/>
          </a:solidFill>
          <a:ln w="12700">
            <a:solidFill>
              <a:srgbClr val="232A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70848" y="3364992"/>
            <a:ext cx="329184" cy="137160"/>
          </a:xfrm>
          <a:prstGeom prst="roundRect">
            <a:avLst>
              <a:gd name="adj" fmla="val 33333"/>
            </a:avLst>
          </a:prstGeom>
          <a:solidFill>
            <a:srgbClr val="5BE39A"/>
          </a:solidFill>
          <a:ln w="12700">
            <a:solidFill>
              <a:srgbClr val="5BE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45368" y="32918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E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19672" y="3858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기만 성향 (행동 기반)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70848" y="3931920"/>
            <a:ext cx="1828800" cy="137160"/>
          </a:xfrm>
          <a:prstGeom prst="roundRect">
            <a:avLst>
              <a:gd name="adj" fmla="val 33333"/>
            </a:avLst>
          </a:prstGeom>
          <a:solidFill>
            <a:srgbClr val="232A3D"/>
          </a:solidFill>
          <a:ln w="12700">
            <a:solidFill>
              <a:srgbClr val="232A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70848" y="3931920"/>
            <a:ext cx="768096" cy="137160"/>
          </a:xfrm>
          <a:prstGeom prst="roundRect">
            <a:avLst>
              <a:gd name="adj" fmla="val 33333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45368" y="38587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19672" y="4425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착취 성향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70848" y="4498848"/>
            <a:ext cx="1828800" cy="137160"/>
          </a:xfrm>
          <a:prstGeom prst="roundRect">
            <a:avLst>
              <a:gd name="adj" fmla="val 33333"/>
            </a:avLst>
          </a:prstGeom>
          <a:solidFill>
            <a:srgbClr val="232A3D"/>
          </a:solidFill>
          <a:ln w="12700">
            <a:solidFill>
              <a:srgbClr val="232A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70848" y="4498848"/>
            <a:ext cx="164592" cy="137160"/>
          </a:xfrm>
          <a:prstGeom prst="roundRect">
            <a:avLst>
              <a:gd name="adj" fmla="val 33333"/>
            </a:avLst>
          </a:prstGeom>
          <a:solidFill>
            <a:srgbClr val="5BE39A"/>
          </a:solidFill>
          <a:ln w="12700">
            <a:solidFill>
              <a:srgbClr val="5BE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45368" y="44256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E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19672" y="4992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 전파력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70848" y="5065776"/>
            <a:ext cx="1828800" cy="137160"/>
          </a:xfrm>
          <a:prstGeom prst="roundRect">
            <a:avLst>
              <a:gd name="adj" fmla="val 33333"/>
            </a:avLst>
          </a:prstGeom>
          <a:solidFill>
            <a:srgbClr val="232A3D"/>
          </a:solidFill>
          <a:ln w="12700">
            <a:solidFill>
              <a:srgbClr val="232A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70848" y="5065776"/>
            <a:ext cx="1152144" cy="137160"/>
          </a:xfrm>
          <a:prstGeom prst="roundRect">
            <a:avLst>
              <a:gd name="adj" fmla="val 33333"/>
            </a:avLst>
          </a:prstGeom>
          <a:solidFill>
            <a:srgbClr val="FF4D3D"/>
          </a:solidFill>
          <a:ln w="12700">
            <a:solidFill>
              <a:srgbClr val="FF4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45368" y="49926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19672" y="53400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배치 전, 조합 시뮬레이션 결과와 함께 발급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63276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규격 예시(mock)입니다 — 실제 값은 Phase 1~3에서 산출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측정하는가 — 4계층 진단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위로 갈수록 싸고 부정확, 아래로 갈수록 비싸고 결정적입니다.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2768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6B7594"/>
          </a:solidFill>
          <a:ln w="12700">
            <a:solidFill>
              <a:srgbClr val="6B7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81328" y="2011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자기보고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47288" y="2011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Five · 다크 트라이어드 설문 응답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79408" y="20116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저비용 · 참고용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035808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3009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AD8E8"/>
          </a:solidFill>
          <a:ln w="12700">
            <a:solidFill>
              <a:srgbClr val="3A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03580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프로브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47288" y="30358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 · 공공재 게임 · 사회추론 · 코드리뷰에서의 선택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79408" y="30358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중비용 · 핵심 지표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059936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43251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81328" y="405993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상호작용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47288" y="405993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 조합 × 토폴로지 × 과제 대규모 시뮬레이션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79408" y="405993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고비용 · 조합 효과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084064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" y="53492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4D3D"/>
          </a:solidFill>
          <a:ln w="12700">
            <a:solidFill>
              <a:srgbClr val="FF4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81328" y="508406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회로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47288" y="5084064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SAE 특징 조종으로 인과 검증 — 정말 그 성향이 원인인가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79408" y="508406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필수 · 인과 근거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63276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 설계 근거 : 2509.03730 / L3 : 2607.05659 · 2503.01935 / L4 : 2605.09773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A100 80GB × 8이어야 하는가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모두 '돈을 더 내면 API로 되는 일'이 아닙니다.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400904" cy="1828800"/>
          </a:xfrm>
          <a:prstGeom prst="roundRect">
            <a:avLst>
              <a:gd name="adj" fmla="val 4500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037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7048" y="2203704"/>
            <a:ext cx="412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내부를 봐야 한다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" y="2715768"/>
            <a:ext cx="477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SAE 특징 조종·활성값 추출은 가중치 접근이 전제.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70B bf16 ≈ 140GB → 텐서 병렬 2장 단위.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3864" y="1965960"/>
            <a:ext cx="5400904" cy="1828800"/>
          </a:xfrm>
          <a:prstGeom prst="roundRect">
            <a:avLst>
              <a:gd name="adj" fmla="val 450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4760" y="22037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83984" y="2203704"/>
            <a:ext cx="412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처리량이 필요하다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4760" y="2715768"/>
            <a:ext cx="477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기반 측정 = 수십억 토큰 규모 실행.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서빙 시 과금이 아니라 GPU 시간으로 대체.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977640"/>
            <a:ext cx="5400904" cy="1828800"/>
          </a:xfrm>
          <a:prstGeom prst="roundRect">
            <a:avLst>
              <a:gd name="adj" fmla="val 450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2153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27048" y="4215384"/>
            <a:ext cx="412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재현성이 필요하다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77824" y="4727448"/>
            <a:ext cx="477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 API 모델은 조용히 갱신되어 재현이 깨진다.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가중치·시드·온도를 고정해야 과학이 성립.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3977640"/>
            <a:ext cx="5400904" cy="1828800"/>
          </a:xfrm>
          <a:prstGeom prst="roundRect">
            <a:avLst>
              <a:gd name="adj" fmla="val 450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4760" y="42153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E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83984" y="4215384"/>
            <a:ext cx="412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위험을 다뤄야 한다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4760" y="4727448"/>
            <a:ext cx="477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성향 유도·감염·사기 시뮬레이션은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자체 인프라에서만 책임 있게 수행 가능.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8장을 어떻게 나눠 쓰는가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추정치 기준, 8주 안에 여유 있게 끝나는 규모입니다.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65960"/>
          <a:ext cx="64922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33488" y="2057400"/>
            <a:ext cx="4288536" cy="914400"/>
          </a:xfrm>
          <a:prstGeom prst="roundRect">
            <a:avLst>
              <a:gd name="adj" fmla="val 9000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26096" y="21854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2,150 GPU-시간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26096" y="2514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8장 동시 가동 시 약 269시간 ≈ 11일 풀가동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33488" y="3063240"/>
            <a:ext cx="4288536" cy="914400"/>
          </a:xfrm>
          <a:prstGeom prst="roundRect">
            <a:avLst>
              <a:gd name="adj" fmla="val 900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26096" y="31912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배치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26096" y="3520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70B(TP=2) 인스턴스 4개 병렬 서빙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33488" y="4069080"/>
            <a:ext cx="4288536" cy="914400"/>
          </a:xfrm>
          <a:prstGeom prst="roundRect">
            <a:avLst>
              <a:gd name="adj" fmla="val 900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6096" y="4197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구간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6096" y="45262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— 조합 수가 곱셈으로 늘어나는 유일한 단계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33488" y="5074920"/>
            <a:ext cx="4288536" cy="914400"/>
          </a:xfrm>
          <a:prstGeom prst="roundRect">
            <a:avLst>
              <a:gd name="adj" fmla="val 900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6096" y="52029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여유분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26096" y="55321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 대비 약 70% 유휴 → 재실험 흡수 가능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63276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제안 단계 추정치 — 착수 후 1주차에 실측으로 갱신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 실행 계획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2주마다 눈으로 볼 수 있는 산출물이 나옵니다.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2109155" cy="3246120"/>
          </a:xfrm>
          <a:prstGeom prst="roundRect">
            <a:avLst>
              <a:gd name="adj" fmla="val 3902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40280"/>
            <a:ext cx="165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1–2주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16519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프로브 구축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794760"/>
            <a:ext cx="16519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협상·공공재·사회추론·코드리뷰 4종 프로브 세트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자기보고 vs 행동 격차 1차 측정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04099" y="2057400"/>
            <a:ext cx="2109155" cy="3246120"/>
          </a:xfrm>
          <a:prstGeom prst="roundRect">
            <a:avLst>
              <a:gd name="adj" fmla="val 3902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1843" y="2240280"/>
            <a:ext cx="165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041843" y="2633472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2–4주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41843" y="3017520"/>
            <a:ext cx="16519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 회로 지도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41843" y="3794760"/>
            <a:ext cx="16519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SAE 특징 탐색 및 조종, 착취/기만 분리 재현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 검증 프로토콜 확립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41270" y="2057400"/>
            <a:ext cx="2109155" cy="3246120"/>
          </a:xfrm>
          <a:prstGeom prst="roundRect">
            <a:avLst>
              <a:gd name="adj" fmla="val 3902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9014" y="2240280"/>
            <a:ext cx="165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279014" y="2633472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4–6주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79014" y="3017520"/>
            <a:ext cx="16519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시뮬레이션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79014" y="3794760"/>
            <a:ext cx="16519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 조합 × 토폴로지 × 과제 대규모 실행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조합이 성과를 내는가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78441" y="2057400"/>
            <a:ext cx="2109155" cy="3246120"/>
          </a:xfrm>
          <a:prstGeom prst="roundRect">
            <a:avLst>
              <a:gd name="adj" fmla="val 3902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6185" y="2240280"/>
            <a:ext cx="165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516185" y="2633472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6–7주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16185" y="3017520"/>
            <a:ext cx="16519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전파 실험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16185" y="3794760"/>
            <a:ext cx="16519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성격 1명이 팀을 오염시키는 임계질량 측정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전용 시나리오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15612" y="2057400"/>
            <a:ext cx="2109155" cy="3246120"/>
          </a:xfrm>
          <a:prstGeom prst="roundRect">
            <a:avLst>
              <a:gd name="adj" fmla="val 3902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53356" y="2240280"/>
            <a:ext cx="165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E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753356" y="2633472"/>
            <a:ext cx="16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7–8주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753356" y="3017520"/>
            <a:ext cx="16519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규격 · 데모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53356" y="3794760"/>
            <a:ext cx="16519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Personality Card v0.1 스펙 확정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Studio 팀편성 추천 데모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532120"/>
            <a:ext cx="11057839" cy="566928"/>
          </a:xfrm>
          <a:prstGeom prst="roundRect">
            <a:avLst>
              <a:gd name="adj" fmla="val 14516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5532120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— 2주차 : 프로브 세트 공개  /  4주차 : 회로 조종 재현 결과  /  6주차 : 조합 성과표  /  8주차 : 카드 규격 + 데모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남는가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한 편이 아니라, 제품에 꽂히는 부품 5개를 남깁니다.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659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18488" y="19659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기반 성격 벤치마크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96128" y="19659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설문이 아닌 선택으로 측정하는 프로브 세트 + 데이터셋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807208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0720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18488" y="28072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Personality Card 규격 v0.1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96128" y="280720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Agent Card 확장 필드 스펙과 발급 파이프라인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648456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4845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18488" y="364845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조합 성과표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96128" y="3648456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성격 조합 × 어떤 토폴로지가 어떤 과제에 맞는가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489704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8970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18488" y="448970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전파 임계질량 리포트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96128" y="4489704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 1명이 팀 N명을 무너뜨리는 지점과 차단 조건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330952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33095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E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18488" y="53309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Studio 데모 · 기술 리포트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96128" y="533095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편성 시 성격 스크리닝을 붙인 실행 데모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커먼컴퓨터 제품에 어떻게 붙는가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연구를 위한 연구가 아니라, A2A Studio의 다음 기능입니다.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1057839" cy="1143000"/>
          </a:xfrm>
          <a:prstGeom prst="roundRect">
            <a:avLst>
              <a:gd name="adj" fmla="val 7200"/>
            </a:avLst>
          </a:prstGeom>
          <a:solidFill>
            <a:srgbClr val="1D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116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Studio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01568" y="201168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 기준으로 에이전트를 팀에 넣는다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13448" y="2011680"/>
            <a:ext cx="411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16368" y="201168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 조합을 추천하고 위험 조합을 경고한다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310128"/>
            <a:ext cx="11057839" cy="1143000"/>
          </a:xfrm>
          <a:prstGeom prst="roundRect">
            <a:avLst>
              <a:gd name="adj" fmla="val 720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31012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온프렘 엔터프라이즈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01568" y="331012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밖으로 안 나간다는 것이 강점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13448" y="3310128"/>
            <a:ext cx="411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16368" y="331012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행동 검사까지 사내에서 수행한다는 강점 추가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608576"/>
            <a:ext cx="11057839" cy="1143000"/>
          </a:xfrm>
          <a:prstGeom prst="roundRect">
            <a:avLst>
              <a:gd name="adj" fmla="val 7200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60857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지식그래프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01568" y="4608576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지식을 축적한다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13448" y="4608576"/>
            <a:ext cx="411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16368" y="4608576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행동 이력·평판을 축적한다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594360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에이전트를 파는 회사는 많아집니다. "이 에이전트가 어떤 성격인지 보증하는 회사"는 아직 없습니다.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밝혀두는 세 가지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실험을 하겠다는 제안이므로, 경계선을 먼저 긋습니다.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94506" cy="3566160"/>
          </a:xfrm>
          <a:prstGeom prst="roundRect">
            <a:avLst>
              <a:gd name="adj" fmla="val 2308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267712"/>
            <a:ext cx="164592" cy="164592"/>
          </a:xfrm>
          <a:prstGeom prst="ellipse">
            <a:avLst/>
          </a:prstGeom>
          <a:solidFill>
            <a:srgbClr val="FF4D3D"/>
          </a:solidFill>
          <a:ln w="12700">
            <a:solidFill>
              <a:srgbClr val="FF4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2176272"/>
            <a:ext cx="27715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윤리·안전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670048"/>
            <a:ext cx="300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" y="2944368"/>
            <a:ext cx="30092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성향 유도 실험은 그 자체로 유해 출력을 만든다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9536" y="3977640"/>
            <a:ext cx="300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4251960"/>
            <a:ext cx="30092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구간 폐쇄망 · 외부 API 미사용 · 출력 격리 저장 · 공개 시 완화 조치 동반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8594" y="2011680"/>
            <a:ext cx="3594506" cy="3566160"/>
          </a:xfrm>
          <a:prstGeom prst="roundRect">
            <a:avLst>
              <a:gd name="adj" fmla="val 2308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1202" y="2267712"/>
            <a:ext cx="164592" cy="164592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5522" y="2176272"/>
            <a:ext cx="27715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일반화 한계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1202" y="2670048"/>
            <a:ext cx="300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1202" y="2944368"/>
            <a:ext cx="30092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70B 오픈웨이트 결과가 상용 모델로 그대로 이어지지 않을 수 있다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91202" y="3977640"/>
            <a:ext cx="300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1202" y="4251960"/>
            <a:ext cx="30092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계층(L2·L3)은 상용 모델에도 적용 가능한 형태로 설계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30261" y="2011680"/>
            <a:ext cx="3594506" cy="3566160"/>
          </a:xfrm>
          <a:prstGeom prst="roundRect">
            <a:avLst>
              <a:gd name="adj" fmla="val 2308"/>
            </a:avLst>
          </a:prstGeom>
          <a:solidFill>
            <a:srgbClr val="161B2B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2869" y="2267712"/>
            <a:ext cx="164592" cy="164592"/>
          </a:xfrm>
          <a:prstGeom prst="ellipse">
            <a:avLst/>
          </a:prstGeom>
          <a:solidFill>
            <a:srgbClr val="3AD8E8"/>
          </a:solidFill>
          <a:ln w="12700">
            <a:solidFill>
              <a:srgbClr val="3A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7189" y="2176272"/>
            <a:ext cx="27715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타당성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2869" y="2670048"/>
            <a:ext cx="300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2869" y="2944368"/>
            <a:ext cx="30092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'성격'이라는 개념 자체가 모델에 실재하지 않을 수 있다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22869" y="3977640"/>
            <a:ext cx="300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2869" y="4251960"/>
            <a:ext cx="30092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자기보고와 행동의 해리를 결과로 보고 — 부정 결과도 산출물로 인정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30편이 남긴 다섯 문장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다섯 줄이 이 제안의 전부입니다.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AD8E8"/>
          </a:solidFill>
          <a:ln w="12700">
            <a:solidFill>
              <a:srgbClr val="3A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5296" y="2011680"/>
            <a:ext cx="102348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페르소나는 정렬을 뚫는 가장 싼 통로다 — 역할 한 줄에 독성 6배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225296" y="2724912"/>
            <a:ext cx="10234879" cy="0"/>
          </a:xfrm>
          <a:prstGeom prst="line">
            <a:avLst/>
          </a:prstGeom>
          <a:noFill/>
          <a:ln w="12700">
            <a:solidFill>
              <a:srgbClr val="1B22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9260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AD8E8"/>
          </a:solidFill>
          <a:ln w="12700">
            <a:solidFill>
              <a:srgbClr val="3A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5296" y="2798064"/>
            <a:ext cx="102348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성격은 팀 성과를 실제로 바꾼다 — 특히 가장 낮은 친화성이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225296" y="3511296"/>
            <a:ext cx="10234879" cy="0"/>
          </a:xfrm>
          <a:prstGeom prst="line">
            <a:avLst/>
          </a:prstGeom>
          <a:noFill/>
          <a:ln w="12700">
            <a:solidFill>
              <a:srgbClr val="1B22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7124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AD8E8"/>
          </a:solidFill>
          <a:ln w="12700">
            <a:solidFill>
              <a:srgbClr val="3A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5296" y="3584448"/>
            <a:ext cx="102348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자기보고로는 잡히지 않는다 — 행동을 대량으로 관찰해야 한다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1225296" y="4297680"/>
            <a:ext cx="10234879" cy="0"/>
          </a:xfrm>
          <a:prstGeom prst="line">
            <a:avLst/>
          </a:prstGeom>
          <a:noFill/>
          <a:ln w="12700">
            <a:solidFill>
              <a:srgbClr val="1B22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498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AD8E8"/>
          </a:solidFill>
          <a:ln w="12700">
            <a:solidFill>
              <a:srgbClr val="3A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25296" y="4370832"/>
            <a:ext cx="102348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악의는 단일 스위치가 아니다 — 착취와 기만은 다른 회로다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225296" y="5084064"/>
            <a:ext cx="10234879" cy="0"/>
          </a:xfrm>
          <a:prstGeom prst="line">
            <a:avLst/>
          </a:prstGeom>
          <a:noFill/>
          <a:ln w="12700">
            <a:solidFill>
              <a:srgbClr val="1B22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52852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4D3D"/>
          </a:solidFill>
          <a:ln w="12700">
            <a:solidFill>
              <a:srgbClr val="FF4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5296" y="5157216"/>
            <a:ext cx="102348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성격은 지수적으로 전염된다 — 개체가 아니라 조합을 봐야 한다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66928" y="598932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: 에이전트를 늘리기 전에, 무엇이 증폭되는지를 먼저 측정해야 합니다.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A100 80GB × 8,  8주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2697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7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인성을 검사하는 최초의 파이프라인을 만들겠습니다.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곳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78608" y="3429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70B 오픈웨이트 내부 관측 · 수십억 토큰 규모 행동 실험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4178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돌려주는 것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78608" y="41788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Personality Card 규격 · 벤치마크 · 위험 리포트 · Studio 데모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49286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체크포인트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78608" y="4928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2주차, 행동 프로브 세트와 1차 측정 결과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464040" y="1828800"/>
            <a:ext cx="1234440" cy="77724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9006840" y="1828800"/>
            <a:ext cx="457200" cy="123444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0195560" y="2606040"/>
            <a:ext cx="502920" cy="118872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3063240"/>
            <a:ext cx="1188720" cy="73152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0" y="2606040"/>
            <a:ext cx="594360" cy="68580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9326880" y="3794760"/>
            <a:ext cx="868680" cy="54864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3063240"/>
            <a:ext cx="320040" cy="1280160"/>
          </a:xfrm>
          <a:prstGeom prst="line">
            <a:avLst/>
          </a:prstGeom>
          <a:noFill/>
          <a:ln w="15875">
            <a:solidFill>
              <a:srgbClr val="2A3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1554480"/>
            <a:ext cx="548640" cy="548640"/>
          </a:xfrm>
          <a:prstGeom prst="ellipse">
            <a:avLst/>
          </a:prstGeom>
          <a:solidFill>
            <a:srgbClr val="FF4D3D"/>
          </a:solidFill>
          <a:ln w="12700">
            <a:solidFill>
              <a:srgbClr val="FF4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0" y="2423160"/>
            <a:ext cx="365760" cy="365760"/>
          </a:xfrm>
          <a:prstGeom prst="ellipse">
            <a:avLst/>
          </a:prstGeom>
          <a:solidFill>
            <a:srgbClr val="97A2C0"/>
          </a:solidFill>
          <a:ln w="12700">
            <a:solidFill>
              <a:srgbClr val="97A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2880360"/>
            <a:ext cx="365760" cy="365760"/>
          </a:xfrm>
          <a:prstGeom prst="ellipse">
            <a:avLst/>
          </a:prstGeom>
          <a:solidFill>
            <a:srgbClr val="97A2C0"/>
          </a:solidFill>
          <a:ln w="12700">
            <a:solidFill>
              <a:srgbClr val="97A2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12680" y="3611880"/>
            <a:ext cx="365760" cy="365760"/>
          </a:xfrm>
          <a:prstGeom prst="ellipse">
            <a:avLst/>
          </a:prstGeom>
          <a:solidFill>
            <a:srgbClr val="97A2C0"/>
          </a:solidFill>
          <a:ln w="12700">
            <a:solidFill>
              <a:srgbClr val="97A2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46536" y="3145536"/>
            <a:ext cx="292608" cy="292608"/>
          </a:xfrm>
          <a:prstGeom prst="ellipse">
            <a:avLst/>
          </a:prstGeom>
          <a:solidFill>
            <a:srgbClr val="97A2C0"/>
          </a:solidFill>
          <a:ln w="12700">
            <a:solidFill>
              <a:srgbClr val="97A2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0576" y="4197096"/>
            <a:ext cx="292608" cy="292608"/>
          </a:xfrm>
          <a:prstGeom prst="ellipse">
            <a:avLst/>
          </a:prstGeom>
          <a:solidFill>
            <a:srgbClr val="97A2C0"/>
          </a:solidFill>
          <a:ln w="12700">
            <a:solidFill>
              <a:srgbClr val="97A2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명이 팀을 바꾼다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59893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근거 : arXiv 2304.05335 · 2509.03730 · 2605.09773 · 2402.08567 · 2401.11880 · 2311.11855 · 2607.05659 · 2606.27443 · 2410.07283 · 2503.13657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AI도 인성검사를 받아야 한다</dc:title>
  <dc:subject>PptxGenJS Presentation</dc:subject>
  <dc:creator>AgentDNA Proposal</dc:creator>
  <cp:lastModifiedBy>AgentDNA Proposal</cp:lastModifiedBy>
  <cp:revision>1</cp:revision>
  <dcterms:created xsi:type="dcterms:W3CDTF">2026-07-30T15:45:57Z</dcterms:created>
  <dcterms:modified xsi:type="dcterms:W3CDTF">2026-07-30T15:45:57Z</dcterms:modified>
</cp:coreProperties>
</file>