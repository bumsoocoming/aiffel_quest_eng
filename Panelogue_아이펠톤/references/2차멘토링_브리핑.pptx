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pre</c:v>
                  </c:pt>
                  <c:pt idx="1">
                    <c:v>R1</c:v>
                  </c:pt>
                  <c:pt idx="2">
                    <c:v>R2</c:v>
                  </c:pt>
                  <c:pt idx="3">
                    <c:v>R3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0.969</c:v>
                </c:pt>
                <c:pt idx="1">
                  <c:v>0.659</c:v>
                </c:pt>
                <c:pt idx="2">
                  <c:v>0.488</c:v>
                </c:pt>
                <c:pt idx="3">
                  <c:v>0.586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Tree</c:v>
                </c:pt>
              </c:strCache>
            </c:strRef>
          </c:tx>
          <c:spPr>
            <a:solidFill>
              <a:srgbClr val="5B7BD5"/>
            </a:solidFill>
            <a:ln w="31750" cap="flat">
              <a:solidFill>
                <a:srgbClr val="5B7BD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7BD5"/>
              </a:solidFill>
              <a:ln w="9525" cap="flat">
                <a:solidFill>
                  <a:srgbClr val="5B7BD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pre</c:v>
                  </c:pt>
                  <c:pt idx="1">
                    <c:v>R1</c:v>
                  </c:pt>
                  <c:pt idx="2">
                    <c:v>R2</c:v>
                  </c:pt>
                  <c:pt idx="3">
                    <c:v>R3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0.969</c:v>
                </c:pt>
                <c:pt idx="1">
                  <c:v>0.735</c:v>
                </c:pt>
                <c:pt idx="2">
                  <c:v>0.631</c:v>
                </c:pt>
                <c:pt idx="3">
                  <c:v>0.388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Chain</c:v>
                </c:pt>
              </c:strCache>
            </c:strRef>
          </c:tx>
          <c:spPr>
            <a:solidFill>
              <a:srgbClr val="9DB4E8"/>
            </a:solidFill>
            <a:ln w="31750" cap="flat">
              <a:solidFill>
                <a:srgbClr val="9DB4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DB4E8"/>
              </a:solidFill>
              <a:ln w="9525" cap="flat">
                <a:solidFill>
                  <a:srgbClr val="9DB4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pre</c:v>
                  </c:pt>
                  <c:pt idx="1">
                    <c:v>R1</c:v>
                  </c:pt>
                  <c:pt idx="2">
                    <c:v>R2</c:v>
                  </c:pt>
                  <c:pt idx="3">
                    <c:v>R3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0.969</c:v>
                </c:pt>
                <c:pt idx="1">
                  <c:v>0.787</c:v>
                </c:pt>
                <c:pt idx="2">
                  <c:v>0.695</c:v>
                </c:pt>
                <c:pt idx="3">
                  <c:v>0.451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균등 배정</c:v>
                </c:pt>
              </c:strCache>
            </c:strRef>
          </c:tx>
          <c:spPr>
            <a:solidFill>
              <a:srgbClr val="D64541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28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파일럿 (자작, n=2)</c:v>
                  </c:pt>
                  <c:pt idx="1">
                    <c:v>실데이터 (n=5)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전원 증거 방향 배정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28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파일럿 (자작, n=2)</c:v>
                  </c:pt>
                  <c:pt idx="1">
                    <c:v>실데이터 (n=5)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0.6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6B728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멘토링 브리핑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재현 완료, 그리고 FL8의 빈 구멍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Deliberative Illusion (arXiv:2606.03032) 팔로업  ·  팀 인간의 끝  ·  2026. 7. 31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2E3A7A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160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 → 0.39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48920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critical fact 생존율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(pre → 3라운드, 최악 조건)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393192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2E3A7A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4160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709160" y="48920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Scruples 실데이터 스캔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prior≠evidence 충돌 8.3%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393192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2E3A7A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4160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3/5  &amp;  3/5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366760" y="48920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 5건의 prior 회귀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두 조건 모두. FL8이 버텼다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보고드릴 세 가지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27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27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141732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재현 — 완료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1819656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B 프롬프트 원문 그대로, 클로드 코드 개인 계정으로 4에이전트 × 3라운드 × 토폴로지 3종 완주. 팩트 소실과 스탠스 균질화 두 현상 모두 재현 확인.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443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44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83464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논리 분해 — 약한 고리는 FL8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3236976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주장을 FL0~FL10 연역 사슬로 분해. "합의가 모델 prior로 회귀한다"(§5.3)에서 비약 발견 — 지난주 지적하신 지점과 같은 곳인지 확인 요청드립니다.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361688"/>
            <a:ext cx="566928" cy="566928"/>
          </a:xfrm>
          <a:prstGeom prst="ellipse">
            <a:avLst/>
          </a:prstGeom>
          <a:solidFill>
            <a:srgbClr val="D6454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361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45920" y="42519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 실험 — 논문에 없는 실험을 실데이터로 돌려봄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4654296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Scruples dev 60건 스캔 → prior≠evidence 충돌 5건(8.3%). 충돌 5건 토론 결과 두 조건 모두 3/5가 prior로 회귀 — 저희 공격에도 FL8은 버텼고, 대신 prior가 토론 전 '작성 단계'에서 이미 작동한다는 새 관찰을 얻음.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5806440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E8F0FE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80644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말씀드리는 한계 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재현은 자작 4건, 스캔·분리 실험은 Scruples 실데이터(60건 스캔, 충돌 5건). n=5라 통계 주장은 불가하고, 모델은 Claude 계열만 — 방향 확인까지입니다.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결과 — 팩트는 잃고, 합의는 완성된다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수준 critical fact 생존율 (인스턴스 4건 평균, Jaccard)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55448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554480"/>
            <a:ext cx="3474720" cy="1298448"/>
          </a:xfrm>
          <a:prstGeom prst="roundRect">
            <a:avLst>
              <a:gd name="adj" fmla="val 4930"/>
            </a:avLst>
          </a:prstGeom>
          <a:solidFill>
            <a:srgbClr val="E8F0FE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66420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 → 0.11~0.23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092440" y="221284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개인 수준 생존율.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자기가 받은 팩트의 8할을 3라운드 안에 잃음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863840" y="3017520"/>
            <a:ext cx="3474720" cy="1298448"/>
          </a:xfrm>
          <a:prstGeom prst="roundRect">
            <a:avLst>
              <a:gd name="adj" fmla="val 4930"/>
            </a:avLst>
          </a:prstGeom>
          <a:solidFill>
            <a:srgbClr val="E8F0FE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312724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0.69 → 0.00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092440" y="36758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구간 스탠스 엔트로피.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인스턴스가 만장일치로 수렴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63840" y="4480560"/>
            <a:ext cx="3474720" cy="1298448"/>
          </a:xfrm>
          <a:prstGeom prst="roundRect">
            <a:avLst>
              <a:gd name="adj" fmla="val 4930"/>
            </a:avLst>
          </a:prstGeom>
          <a:solidFill>
            <a:srgbClr val="FDEBEA"/>
          </a:solidFill>
          <a:ln/>
        </p:spPr>
      </p:sp>
      <p:sp>
        <p:nvSpPr>
          <p:cNvPr id="12" name="Text 9"/>
          <p:cNvSpPr/>
          <p:nvPr/>
        </p:nvSpPr>
        <p:spPr>
          <a:xfrm>
            <a:off x="8092440" y="45902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D64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“agree more,</a:t>
            </a:r>
            <a:endParaRPr lang="en-US" sz="1650" dirty="0"/>
          </a:p>
          <a:p>
            <a:pPr indent="0" marL="0">
              <a:buNone/>
            </a:pPr>
            <a:r>
              <a:rPr lang="en-US" sz="1650" b="1" dirty="0">
                <a:solidFill>
                  <a:srgbClr val="D64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less”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092440" y="51389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논문의 핵심 문장이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환경에서 그대로 재현됨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Table 1(GPT-4.1 full: 0.79→0.47)과 하락 방향·규모 일치. 모델·데이터가 달라 절대값 비교는 하지 않음.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주장의 연역 사슬 — 비약은 FL8에 있다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554480"/>
            <a:ext cx="1700784" cy="1417320"/>
          </a:xfrm>
          <a:prstGeom prst="roundRect">
            <a:avLst>
              <a:gd name="adj" fmla="val 4516"/>
            </a:avLst>
          </a:prstGeom>
          <a:solidFill>
            <a:srgbClr val="E8F0FE"/>
          </a:solidFill>
          <a:ln w="12700">
            <a:solidFill>
              <a:srgbClr val="D5DE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64592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FL1–2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8096" y="1975104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이슈를 원자 팩트로 분해,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생존을 라운드별 추적 가능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318004" y="211683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554480"/>
            <a:ext cx="1700784" cy="1417320"/>
          </a:xfrm>
          <a:prstGeom prst="roundRect">
            <a:avLst>
              <a:gd name="adj" fmla="val 4516"/>
            </a:avLst>
          </a:prstGeom>
          <a:solidFill>
            <a:srgbClr val="E8F0FE"/>
          </a:solidFill>
          <a:ln w="12700">
            <a:solidFill>
              <a:srgbClr val="D5D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8608" y="164592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78608" y="1975104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3라운드 후 critical fact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72% 소실 (Table 1)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28516" y="211683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79392" y="1554480"/>
            <a:ext cx="1700784" cy="1417320"/>
          </a:xfrm>
          <a:prstGeom prst="roundRect">
            <a:avLst>
              <a:gd name="adj" fmla="val 4516"/>
            </a:avLst>
          </a:prstGeom>
          <a:solidFill>
            <a:srgbClr val="E8F0FE"/>
          </a:solidFill>
          <a:ln w="12700">
            <a:solidFill>
              <a:srgbClr val="D5D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64592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FL4–5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1975104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스탠스는 수렴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“agree more, knowing less”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39028" y="211683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9904" y="1554480"/>
            <a:ext cx="1700784" cy="1417320"/>
          </a:xfrm>
          <a:prstGeom prst="roundRect">
            <a:avLst>
              <a:gd name="adj" fmla="val 4516"/>
            </a:avLst>
          </a:prstGeom>
          <a:solidFill>
            <a:srgbClr val="E8F0FE"/>
          </a:solidFill>
          <a:ln w="12700">
            <a:solidFill>
              <a:srgbClr val="D5DE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64592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FL6–7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99632" y="1975104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팩트만으론 오독 발생,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오정보 주입에 취약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49540" y="211683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00416" y="1554480"/>
            <a:ext cx="1700784" cy="1417320"/>
          </a:xfrm>
          <a:prstGeom prst="roundRect">
            <a:avLst>
              <a:gd name="adj" fmla="val 4516"/>
            </a:avLst>
          </a:prstGeom>
          <a:solidFill>
            <a:srgbClr val="D64541"/>
          </a:solidFill>
          <a:ln w="12700">
            <a:solidFill>
              <a:srgbClr val="D645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10144" y="164592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FL8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10144" y="1975104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합의는 모델 prior로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회귀한다 (§5.3)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560052" y="211683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10928" y="1554480"/>
            <a:ext cx="1700784" cy="1417320"/>
          </a:xfrm>
          <a:prstGeom prst="roundRect">
            <a:avLst>
              <a:gd name="adj" fmla="val 4516"/>
            </a:avLst>
          </a:prstGeom>
          <a:solidFill>
            <a:srgbClr val="E8F0FE"/>
          </a:solidFill>
          <a:ln w="12700">
            <a:solidFill>
              <a:srgbClr val="D5DE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20656" y="164592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FL9–10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820656" y="1975104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∴ 합의는 심의 품질의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신뢰할 수 있는 지표가 아니다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2960" y="3429000"/>
            <a:ext cx="10515600" cy="1371600"/>
          </a:xfrm>
          <a:prstGeom prst="roundRect">
            <a:avLst>
              <a:gd name="adj" fmla="val 4667"/>
            </a:avLst>
          </a:prstGeom>
          <a:solidFill>
            <a:srgbClr val="FDEBEA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3520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FL8이 비약인가. 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근거는 합의 다수 스탠스와 base model 단독 출력의 일치율 0.65~0.76(Table 3). 그런데 대부분의 인스턴스에서 prior와 증거는 같은 방향을 가리킨다. 그 경우 높은 일치율은 “prior가 끌어당겼다”의 증거가 아니라 “증거도 같은 답이었다”일 뿐이다. 둘을 가르는 분리 실험 — 증거가 prior와 반대인 인스턴스만 떼어 보는 것 — 이 논문에 없다 (원문 전수 확인).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부차적 약점(질문 대비): critical 라벨 신뢰도 κ=0.541 · LLM 판정자의 순환성 · 이진 스탠스 엔트로피의 해석 한계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FL8이 무너지면 FL9–FL10 결론의 절반이 같이 무너진다. 여기가 팔로업 논문의 자리.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 실험 — 실데이터에서는 FL8이 버텼다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1155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Scruples dev 무작위 60건 스캔 → prior≠evidence 충돌 5건(8.3%) → 조건별 3라운드 토론 (full)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 회귀율 — 자작 파일럿 vs Scruples 실데이터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96596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965960"/>
            <a:ext cx="4114800" cy="1691640"/>
          </a:xfrm>
          <a:prstGeom prst="roundRect">
            <a:avLst>
              <a:gd name="adj" fmla="val 3784"/>
            </a:avLst>
          </a:prstGeom>
          <a:solidFill>
            <a:srgbClr val="FDEBEA"/>
          </a:solidFill>
          <a:ln/>
        </p:spPr>
      </p:sp>
      <p:sp>
        <p:nvSpPr>
          <p:cNvPr id="7" name="Text 4"/>
          <p:cNvSpPr/>
          <p:nvPr/>
        </p:nvSpPr>
        <p:spPr>
          <a:xfrm>
            <a:off x="7452360" y="2103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4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3/5  &amp;  3/5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452360" y="2788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실데이터에선 균등 배정도, 전원 증거 배정도 60%가 prior로 회귀. 저희의 약화 가설(H2: 증거 배정 시 &lt;30%)은 기각 — 논문 FL8이 공격을 버텼다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223760" y="3840480"/>
            <a:ext cx="4114800" cy="1691640"/>
          </a:xfrm>
          <a:prstGeom prst="roundRect">
            <a:avLst>
              <a:gd name="adj" fmla="val 3784"/>
            </a:avLst>
          </a:prstGeom>
          <a:solidFill>
            <a:srgbClr val="E8F0FE"/>
          </a:solidFill>
          <a:ln/>
        </p:spPr>
      </p:sp>
      <p:sp>
        <p:nvSpPr>
          <p:cNvPr id="10" name="Text 7"/>
          <p:cNvSpPr/>
          <p:nvPr/>
        </p:nvSpPr>
        <p:spPr>
          <a:xfrm>
            <a:off x="7452360" y="3977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20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452360" y="4663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관찰 — 조작 누수. 전원 YES를 배정해도 첫 포스트의 45%가 이미 NO(prior)로 읽힘. prior는 토론이 아니라 '글쓰기 단계'에서 이미 작동한다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가설: prior 회귀는 토론 과정이 아니라 생성(작성) 단계에서 일어난다 — 논문의 §5.3보다 한 층 깊은 분해. 확정에는 충돌 인스턴스 수십 건 필요 → 리소스 제안서.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확인받고 싶은 것, 요청드리는 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질문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993392"/>
            <a:ext cx="384048" cy="384048"/>
          </a:xfrm>
          <a:prstGeom prst="ellipse">
            <a:avLst/>
          </a:prstGeom>
          <a:solidFill>
            <a:srgbClr val="D6454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19659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저희가 본 약한 고리 FL8 — 대표님이 지적하신 지점과 같은 곳입니까?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53512"/>
            <a:ext cx="384048" cy="384048"/>
          </a:xfrm>
          <a:prstGeom prst="ellipse">
            <a:avLst/>
          </a:prstGeom>
          <a:solidFill>
            <a:srgbClr val="D6454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29260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실험에서 약화 가설이 기각되어, 다음 가설을 "prior 회귀는 토론이 아닌 생성 단계에서 일어난다"로 옮기려 합니다. 이 방향이 맞습니까?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913632"/>
            <a:ext cx="384048" cy="384048"/>
          </a:xfrm>
          <a:prstGeom prst="ellipse">
            <a:avLst/>
          </a:prstGeom>
          <a:solidFill>
            <a:srgbClr val="D6454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38862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리소스 제안서 호출 규모 — 실측 충돌률 8.3% 기준 710건 전수 시 충돌 약 59건 예상. 산정에 보완할 부분이 있습니까?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75120" y="1508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요청·리마인드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75120" y="1965960"/>
            <a:ext cx="4663440" cy="841248"/>
          </a:xfrm>
          <a:prstGeom prst="roundRect">
            <a:avLst>
              <a:gd name="adj" fmla="val 6522"/>
            </a:avLst>
          </a:prstGeom>
          <a:solidFill>
            <a:srgbClr val="2E3A7A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1965960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리소스 제안서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디스코드 제출 완료. GLM 5.2 엔드포인트(주력) + Gemma 4(대조용), 3주.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2926080"/>
            <a:ext cx="4663440" cy="841248"/>
          </a:xfrm>
          <a:prstGeom prst="roundRect">
            <a:avLst>
              <a:gd name="adj" fmla="val 6522"/>
            </a:avLst>
          </a:prstGeom>
          <a:solidFill>
            <a:srgbClr val="2E3A7A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2926080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데모 시연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회의에서 약속하신 것 — 일정 확인 부탁드립니다.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3886200"/>
            <a:ext cx="4663440" cy="841248"/>
          </a:xfrm>
          <a:prstGeom prst="roundRect">
            <a:avLst>
              <a:gd name="adj" fmla="val 6522"/>
            </a:avLst>
          </a:prstGeom>
          <a:solidFill>
            <a:srgbClr val="2E3A7A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3886200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기수 자료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박은수 님 공유분 리마인드.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단계: 710건 전수 스캔(충돌 ~59건 확보) → '생성 단계 prior 회귀' 가설 본실험 → 팔로업 논문 초안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코드·로그 전체 공개 가능 (delibtrace_repro.zip)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2026-07-30T09:09:56Z</dcterms:created>
  <dcterms:modified xsi:type="dcterms:W3CDTF">2026-07-30T09:09:56Z</dcterms:modified>
</cp:coreProperties>
</file>