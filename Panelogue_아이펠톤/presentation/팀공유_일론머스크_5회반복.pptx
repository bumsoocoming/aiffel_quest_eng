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617c2ea8814f80" /><Relationship Type="http://schemas.openxmlformats.org/officeDocument/2006/relationships/extended-properties" Target="/docProps/app.xml" Id="Rf291bb12ab14406d" /><Relationship Type="http://schemas.openxmlformats.org/officeDocument/2006/relationships/officeDocument" Target="/ppt/presentation.xml" Id="Recd53eb615124a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1eacf1770d4cea"/>
  </p:sldMasterIdLst>
  <p:notesMasterIdLst>
    <p:notesMasterId xmlns:r="http://schemas.openxmlformats.org/officeDocument/2006/relationships" r:id="R2a47ead6fa2a4420"/>
  </p:notesMasterIdLst>
  <p:sldIdLst>
    <p:sldId xmlns:r="http://schemas.openxmlformats.org/officeDocument/2006/relationships" id="256" r:id="Rf3beb679fcc941dc"/>
    <p:sldId xmlns:r="http://schemas.openxmlformats.org/officeDocument/2006/relationships" id="257" r:id="R03720ef8ca4e44a9"/>
    <p:sldId xmlns:r="http://schemas.openxmlformats.org/officeDocument/2006/relationships" id="258" r:id="R6e9163d227c4408c"/>
    <p:sldId xmlns:r="http://schemas.openxmlformats.org/officeDocument/2006/relationships" id="259" r:id="Rdce4939c8ee94124"/>
    <p:sldId xmlns:r="http://schemas.openxmlformats.org/officeDocument/2006/relationships" id="260" r:id="R709c508977b94cb1"/>
    <p:sldId xmlns:r="http://schemas.openxmlformats.org/officeDocument/2006/relationships" id="261" r:id="Rf2d7359a8ddf4635"/>
    <p:sldId xmlns:r="http://schemas.openxmlformats.org/officeDocument/2006/relationships" id="262" r:id="R3c2808d76ae74baa"/>
    <p:sldId xmlns:r="http://schemas.openxmlformats.org/officeDocument/2006/relationships" id="263" r:id="Rd8b4cf86cd6d41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fc263f25604382" /><Relationship Type="http://schemas.openxmlformats.org/officeDocument/2006/relationships/slideMaster" Target="/ppt/slideMasters/slideMaster1.xml" Id="Ra41eacf1770d4cea" /><Relationship Type="http://schemas.openxmlformats.org/officeDocument/2006/relationships/notesMaster" Target="/ppt/notesMasters/notesMaster1.xml" Id="R2a47ead6fa2a4420" /><Relationship Type="http://schemas.openxmlformats.org/officeDocument/2006/relationships/presProps" Target="/ppt/presProps.xml" Id="Re0ddb0a5f7fe45cd" /><Relationship Type="http://schemas.openxmlformats.org/officeDocument/2006/relationships/tableStyles" Target="/ppt/tableStyles.xml" Id="R021cf15f366f4641" /><Relationship Type="http://schemas.openxmlformats.org/officeDocument/2006/relationships/slide" Target="/ppt/slides/slide1.xml" Id="Rf3beb679fcc941dc" /><Relationship Type="http://schemas.openxmlformats.org/officeDocument/2006/relationships/slide" Target="/ppt/slides/slide2.xml" Id="R03720ef8ca4e44a9" /><Relationship Type="http://schemas.openxmlformats.org/officeDocument/2006/relationships/slide" Target="/ppt/slides/slide3.xml" Id="R6e9163d227c4408c" /><Relationship Type="http://schemas.openxmlformats.org/officeDocument/2006/relationships/slide" Target="/ppt/slides/slide4.xml" Id="Rdce4939c8ee94124" /><Relationship Type="http://schemas.openxmlformats.org/officeDocument/2006/relationships/slide" Target="/ppt/slides/slide5.xml" Id="R709c508977b94cb1" /><Relationship Type="http://schemas.openxmlformats.org/officeDocument/2006/relationships/slide" Target="/ppt/slides/slide6.xml" Id="Rf2d7359a8ddf4635" /><Relationship Type="http://schemas.openxmlformats.org/officeDocument/2006/relationships/slide" Target="/ppt/slides/slide7.xml" Id="R3c2808d76ae74baa" /><Relationship Type="http://schemas.openxmlformats.org/officeDocument/2006/relationships/slide" Target="/ppt/slides/slide8.xml" Id="Rd8b4cf86cd6d41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3a3b91305241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4aab6466de41fb" /><Relationship Type="http://schemas.openxmlformats.org/officeDocument/2006/relationships/notesMaster" Target="/ppt/notesMasters/notesMaster1.xml" Id="R019ff28540604a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a0cb4f3ed543ae" /><Relationship Type="http://schemas.openxmlformats.org/officeDocument/2006/relationships/notesMaster" Target="/ppt/notesMasters/notesMaster1.xml" Id="Rf0a5f8cc8ab643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a35b8853814ba0" /><Relationship Type="http://schemas.openxmlformats.org/officeDocument/2006/relationships/notesMaster" Target="/ppt/notesMasters/notesMaster1.xml" Id="R6503a53723974d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2f535382274d37" /><Relationship Type="http://schemas.openxmlformats.org/officeDocument/2006/relationships/notesMaster" Target="/ppt/notesMasters/notesMaster1.xml" Id="R824a2fc4762a46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ce9192fb6f4abc" /><Relationship Type="http://schemas.openxmlformats.org/officeDocument/2006/relationships/notesMaster" Target="/ppt/notesMasters/notesMaster1.xml" Id="R96ee1870bdeb4c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c9bf793d7f4625" /><Relationship Type="http://schemas.openxmlformats.org/officeDocument/2006/relationships/notesMaster" Target="/ppt/notesMasters/notesMaster1.xml" Id="R0969117eaec04a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29dce17ef24b0e" /><Relationship Type="http://schemas.openxmlformats.org/officeDocument/2006/relationships/notesMaster" Target="/ppt/notesMasters/notesMaster1.xml" Id="R1305346d4cae47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bdad593a604146" /><Relationship Type="http://schemas.openxmlformats.org/officeDocument/2006/relationships/notesMaster" Target="/ppt/notesMasters/notesMaster1.xml" Id="R814cfb080bfc45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발표의 질문을 먼저 제시한다: 동일 조건으로 반복했을 때 결론과 논조는 얼마나 달라지는가?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C:/Users/Admin/Documents/ChatGPT/아이펠 프로젝트/일론머스크_5회_반복토론_분석.md</a:t>
            </a:r>
          </a:p>
          <a:p xmlns:a="http://schemas.openxmlformats.org/drawingml/2006/main">
            <a:r>
              <a:t>- C:/Users/Admin/Documents/ChatGPT/아이펠 프로젝트/data/elon-musk-five-runs/analysis-summary.json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비밀값을 제외한 설정 SHA-256 지문이 5회 모두 동일함을 확인했다.</a:t>
            </a:r>
          </a:p>
          <a:p xmlns:a="http://schemas.openxmlformats.org/drawingml/2006/main">
            <a:r>
              <a:t>모델별 차이와 페르소나 효과가 섞여 있다는 한계는 마지막 슬라이드에서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C:/Users/Admin/Documents/ChatGPT/아이펠 프로젝트/일론머스크_5회_반복토론_분석.md</a:t>
            </a:r>
          </a:p>
          <a:p xmlns:a="http://schemas.openxmlformats.org/drawingml/2006/main">
            <a:r>
              <a:t>- C:/Users/Admin/Documents/ChatGPT/아이펠 프로젝트/data/elon-musk-five-runs/analysis-summary.json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수치를 한 장에서 제시한다.</a:t>
            </a:r>
          </a:p>
          <a:p xmlns:a="http://schemas.openxmlformats.org/drawingml/2006/main">
            <a:r>
              <a:t>절대 입장 강도 평균은 82.1점으로 양극화가 해소되지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C:/Users/Admin/Documents/ChatGPT/아이펠 프로젝트/일론머스크_5회_반복토론_분석.md</a:t>
            </a:r>
          </a:p>
          <a:p xmlns:a="http://schemas.openxmlformats.org/drawingml/2006/main">
            <a:r>
              <a:t>- C:/Users/Admin/Documents/ChatGPT/아이펠 프로젝트/data/elon-musk-five-runs/analysis-summary.json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찬성 측 두 명은 노동·안전·책임 논점을 일부 수용해 강한 찬성에서 조건부 찬성으로 이동했다.</a:t>
            </a:r>
          </a:p>
          <a:p xmlns:a="http://schemas.openxmlformats.org/drawingml/2006/main">
            <a:r>
              <a:t>그래프 이미지: C:\Users\Admin\Documents\ChatGPT\아이펠 프로젝트\reports\assets\musk-02-stance-shift.png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C:/Users/Admin/Documents/ChatGPT/아이펠 프로젝트/일론머스크_5회_반복토론_분석.md</a:t>
            </a:r>
          </a:p>
          <a:p xmlns:a="http://schemas.openxmlformats.org/drawingml/2006/main">
            <a:r>
              <a:t>- C:/Users/Admin/Documents/ChatGPT/아이펠 프로젝트/data/elon-musk-five-runs/analysis-summary.json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김태훈과 박서연의 최종 점수는 실행마다 변했지만 양수 영역을 벗어나지 않았다.</a:t>
            </a:r>
          </a:p>
          <a:p xmlns:a="http://schemas.openxmlformats.org/drawingml/2006/main">
            <a:r>
              <a:t>그래프 이미지: C:\Users\Admin\Documents\ChatGPT\아이펠 프로젝트\reports\assets\musk-03-final-stances.png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C:/Users/Admin/Documents/ChatGPT/아이펠 프로젝트/일론머스크_5회_반복토론_분석.md</a:t>
            </a:r>
          </a:p>
          <a:p xmlns:a="http://schemas.openxmlformats.org/drawingml/2006/main">
            <a:r>
              <a:t>- C:/Users/Admin/Documents/ChatGPT/아이펠 프로젝트/data/elon-musk-five-runs/analysis-summary.json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5회차에서 이준호 발언은 1회뿐이었고 권력 집중 논점도 거의 나타나지 않았다.</a:t>
            </a:r>
          </a:p>
          <a:p xmlns:a="http://schemas.openxmlformats.org/drawingml/2006/main">
            <a:r>
              <a:t>다음 실험에서는 인물별 발언 횟수를 고정하는 것이 필요하다.</a:t>
            </a:r>
          </a:p>
          <a:p xmlns:a="http://schemas.openxmlformats.org/drawingml/2006/main">
            <a:r>
              <a:t>그래프 이미지: C:\Users\Admin\Documents\ChatGPT\아이펠 프로젝트\reports\assets\musk-04-speaking-themes.png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C:/Users/Admin/Documents/ChatGPT/아이펠 프로젝트/일론머스크_5회_반복토론_분석.md</a:t>
            </a:r>
          </a:p>
          <a:p xmlns:a="http://schemas.openxmlformats.org/drawingml/2006/main">
            <a:r>
              <a:t>- C:/Users/Admin/Documents/ChatGPT/아이펠 프로젝트/data/elon-musk-five-runs/analysis-summary.json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격한 표현 수치는 보수적인 한국어 키워드 사전 기반이라 절대적 독성 점수로 해석하면 안 된다.</a:t>
            </a:r>
          </a:p>
          <a:p xmlns:a="http://schemas.openxmlformats.org/drawingml/2006/main">
            <a:r>
              <a:t>그래프 이미지: C:\Users\Admin\Documents\ChatGPT\아이펠 프로젝트\reports\assets\musk-05-debate-style.png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C:/Users/Admin/Documents/ChatGPT/아이펠 프로젝트/일론머스크_5회_반복토론_분석.md</a:t>
            </a:r>
          </a:p>
          <a:p xmlns:a="http://schemas.openxmlformats.org/drawingml/2006/main">
            <a:r>
              <a:t>- C:/Users/Admin/Documents/ChatGPT/아이펠 프로젝트/data/elon-musk-five-runs/analysis-summary.json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일반화 범위는 한 주제·한 톤의 5회 반복에 한정된다.</a:t>
            </a:r>
          </a:p>
          <a:p xmlns:a="http://schemas.openxmlformats.org/drawingml/2006/main">
            <a:r>
              <a:t>인물별 모델이 달라 페르소나 효과와 모델 효과가 섞여 있다.</a:t>
            </a:r>
          </a:p>
          <a:p xmlns:a="http://schemas.openxmlformats.org/drawingml/2006/main">
            <a:r>
              <a:t>마지막 문장을 팀의 발표 결론으로 사용한다.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C:/Users/Admin/Documents/ChatGPT/아이펠 프로젝트/일론머스크_5회_반복토론_분석.md</a:t>
            </a:r>
          </a:p>
          <a:p xmlns:a="http://schemas.openxmlformats.org/drawingml/2006/main">
            <a:r>
              <a:t>- C:/Users/Admin/Documents/ChatGPT/아이펠 프로젝트/data/elon-musk-five-runs/analysis-summary.json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5e40f6c56c4e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6e7fa9af7d4e56" /><Relationship Type="http://schemas.openxmlformats.org/officeDocument/2006/relationships/slideLayout" Target="/ppt/slideLayouts/slideLayout1.xml" Id="Rc2566190400c4a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566190400c4a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0cc299a1f4a4f" /><Relationship Type="http://schemas.openxmlformats.org/officeDocument/2006/relationships/notesSlide" Target="/ppt/notesSlides/notesSlide1.xml" Id="R366df87d5f3542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9b5c6b24c414c" /><Relationship Type="http://schemas.openxmlformats.org/officeDocument/2006/relationships/notesSlide" Target="/ppt/notesSlides/notesSlide2.xml" Id="R0f86b5acbfcf48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55655715c4865" /><Relationship Type="http://schemas.openxmlformats.org/officeDocument/2006/relationships/notesSlide" Target="/ppt/notesSlides/notesSlide3.xml" Id="Ra7fec0137e3c44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ef58bd0dc494a" /><Relationship Type="http://schemas.openxmlformats.org/officeDocument/2006/relationships/image" Target="/ppt/media/image.png" Id="R5447875d9a8747ab" /><Relationship Type="http://schemas.openxmlformats.org/officeDocument/2006/relationships/notesSlide" Target="/ppt/notesSlides/notesSlide4.xml" Id="Rd213f3034a0240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df0b1de054a8f" /><Relationship Type="http://schemas.openxmlformats.org/officeDocument/2006/relationships/image" Target="/ppt/media/image2.png" Id="R4f71162004e84fe1" /><Relationship Type="http://schemas.openxmlformats.org/officeDocument/2006/relationships/notesSlide" Target="/ppt/notesSlides/notesSlide5.xml" Id="R4dc6a7c600b34f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a36d75a0d4c79" /><Relationship Type="http://schemas.openxmlformats.org/officeDocument/2006/relationships/image" Target="/ppt/media/image3.png" Id="R899a0f37fdf443f0" /><Relationship Type="http://schemas.openxmlformats.org/officeDocument/2006/relationships/notesSlide" Target="/ppt/notesSlides/notesSlide6.xml" Id="R3ae59ca3c0f54e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8d798806d4001" /><Relationship Type="http://schemas.openxmlformats.org/officeDocument/2006/relationships/image" Target="/ppt/media/image4.png" Id="Rb1c47a89420a46a9" /><Relationship Type="http://schemas.openxmlformats.org/officeDocument/2006/relationships/notesSlide" Target="/ppt/notesSlides/notesSlide7.xml" Id="R816ce558e08c49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822315ed94f20" /><Relationship Type="http://schemas.openxmlformats.org/officeDocument/2006/relationships/notesSlide" Target="/ppt/notesSlides/notesSlide8.xml" Id="R250af4b2ca0547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6E6DD1AF-6CC6-48CA-A17D-630A821A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PANELOGUE · MULTI-LLM DEBATE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05CCCFF8-C3EA-47BD-8681-4F0B8A09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790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일론 머스크,</a:t>
            </a:r>
          </a:p>
          <a:p xmlns:a="http://schemas.openxmlformats.org/drawingml/2006/main">
            <a:pPr>
              <a:defRPr sz="42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천재인가 무모한 몽상가인가?</a:t>
            </a:r>
          </a:p>
        </p:txBody>
      </p:sp>
      <p:sp>
        <p:nvSpPr>
          <p:cNvPr id="3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DB9ED58D-11C0-40A6-AAFA-F7833BDD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4개 LLM 패널 · 동일 조건 5회 반복 토론 분석</a:t>
            </a:r>
          </a:p>
        </p:txBody>
      </p:sp>
      <p:sp>
        <p:nvSpPr>
          <p:cNvPr id="4" name="accent-field">
            <a:extLst xmlns:a="http://schemas.openxmlformats.org/drawingml/2006/main">
              <a:ext uri="{FF2B5EF4-FFF2-40B4-BE49-F238E27FC236}">
                <a16:creationId xmlns:a16="http://schemas.microsoft.com/office/drawing/2014/main" id="{0C94BB84-88D5-4A0A-A695-322FEF14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0"/>
            <a:ext cx="3238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peat-mark">
            <a:extLst xmlns:a="http://schemas.openxmlformats.org/drawingml/2006/main">
              <a:ext uri="{FF2B5EF4-FFF2-40B4-BE49-F238E27FC236}">
                <a16:creationId xmlns:a16="http://schemas.microsoft.com/office/drawing/2014/main" id="{99416745-6356-40FE-A127-C975D000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54305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7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5×</a:t>
            </a:r>
          </a:p>
        </p:txBody>
      </p:sp>
      <p:sp>
        <p:nvSpPr>
          <p:cNvPr id="6" name="cover-message">
            <a:extLst xmlns:a="http://schemas.openxmlformats.org/drawingml/2006/main">
              <a:ext uri="{FF2B5EF4-FFF2-40B4-BE49-F238E27FC236}">
                <a16:creationId xmlns:a16="http://schemas.microsoft.com/office/drawing/2014/main" id="{29B63AE6-7DC2-4DCD-A99E-40AE12C6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76550"/>
            <a:ext cx="228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같은 조건</a:t>
            </a:r>
          </a:p>
          <a:p xmlns:a="http://schemas.openxmlformats.org/drawingml/2006/main">
            <a:pPr algn="ctr">
              <a:defRPr sz="24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다른 대화</a:t>
            </a:r>
          </a:p>
        </p:txBody>
      </p:sp>
      <p:sp>
        <p:nvSpPr>
          <p:cNvPr id="7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04E57B40-D724-46B3-9478-287851C4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341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AIFFEL 캡스톤 프로젝트 · 팀 공유용</a:t>
            </a:r>
          </a:p>
        </p:txBody>
      </p:sp>
    </p:spTree>
    <p:extLst>
      <p:ext uri="{BB962C8B-B14F-4D97-AF65-F5344CB8AC3E}">
        <p14:creationId xmlns:p14="http://schemas.microsoft.com/office/powerpoint/2010/main" val="10385995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CDD9A5-11E6-4F41-9A30-43C32350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조건은 고정하고, 결과의 변동만 관찰했다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AEF794D-9818-4BB3-827F-B18C8DFB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38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85F0B13-9EF6-41C9-98A0-EB59B679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metric-5회">
            <a:extLst xmlns:a="http://schemas.openxmlformats.org/drawingml/2006/main">
              <a:ext uri="{FF2B5EF4-FFF2-40B4-BE49-F238E27FC236}">
                <a16:creationId xmlns:a16="http://schemas.microsoft.com/office/drawing/2014/main" id="{980CAD26-28F6-4B9A-99C9-FADDB343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5회</a:t>
            </a:r>
          </a:p>
        </p:txBody>
      </p:sp>
      <p:sp>
        <p:nvSpPr>
          <p:cNvPr id="5" name="metric-label-5회">
            <a:extLst xmlns:a="http://schemas.openxmlformats.org/drawingml/2006/main">
              <a:ext uri="{FF2B5EF4-FFF2-40B4-BE49-F238E27FC236}">
                <a16:creationId xmlns:a16="http://schemas.microsoft.com/office/drawing/2014/main" id="{59051A98-47D8-4E8F-BC8A-67D8C117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동일 주제 반복</a:t>
            </a:r>
          </a:p>
        </p:txBody>
      </p:sp>
      <p:sp>
        <p:nvSpPr>
          <p:cNvPr id="6" name="metric-30턴">
            <a:extLst xmlns:a="http://schemas.openxmlformats.org/drawingml/2006/main">
              <a:ext uri="{FF2B5EF4-FFF2-40B4-BE49-F238E27FC236}">
                <a16:creationId xmlns:a16="http://schemas.microsoft.com/office/drawing/2014/main" id="{59B63E34-4401-49CA-AF46-E2CD099C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287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30턴</a:t>
            </a:r>
          </a:p>
        </p:txBody>
      </p:sp>
      <p:sp>
        <p:nvSpPr>
          <p:cNvPr id="7" name="metric-label-30턴">
            <a:extLst xmlns:a="http://schemas.openxmlformats.org/drawingml/2006/main">
              <a:ext uri="{FF2B5EF4-FFF2-40B4-BE49-F238E27FC236}">
                <a16:creationId xmlns:a16="http://schemas.microsoft.com/office/drawing/2014/main" id="{5EE7DFC1-C1E0-468D-AE03-5DF13938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526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실행당 최대 턴</a:t>
            </a:r>
          </a:p>
        </p:txBody>
      </p:sp>
      <p:sp>
        <p:nvSpPr>
          <p:cNvPr id="8" name="metric-150턴">
            <a:extLst xmlns:a="http://schemas.openxmlformats.org/drawingml/2006/main">
              <a:ext uri="{FF2B5EF4-FFF2-40B4-BE49-F238E27FC236}">
                <a16:creationId xmlns:a16="http://schemas.microsoft.com/office/drawing/2014/main" id="{C2086DEA-5DF6-49FE-8D98-00C27B12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287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150턴</a:t>
            </a:r>
          </a:p>
        </p:txBody>
      </p:sp>
      <p:sp>
        <p:nvSpPr>
          <p:cNvPr id="9" name="metric-label-150턴">
            <a:extLst xmlns:a="http://schemas.openxmlformats.org/drawingml/2006/main">
              <a:ext uri="{FF2B5EF4-FFF2-40B4-BE49-F238E27FC236}">
                <a16:creationId xmlns:a16="http://schemas.microsoft.com/office/drawing/2014/main" id="{052CE5AA-C037-4A22-ACE5-C8E0120B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526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전체 대화 규모</a:t>
            </a:r>
          </a:p>
        </p:txBody>
      </p:sp>
      <p:sp>
        <p:nvSpPr>
          <p:cNvPr id="10" name="panel-heading">
            <a:extLst xmlns:a="http://schemas.openxmlformats.org/drawingml/2006/main">
              <a:ext uri="{FF2B5EF4-FFF2-40B4-BE49-F238E27FC236}">
                <a16:creationId xmlns:a16="http://schemas.microsoft.com/office/drawing/2014/main" id="{4D89C39B-F910-40BB-9ABE-8F334CEE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패널 구성</a:t>
            </a:r>
          </a:p>
        </p:txBody>
      </p:sp>
      <p:sp>
        <p:nvSpPr>
          <p:cNvPr id="11" name="person-rule-0">
            <a:extLst xmlns:a="http://schemas.openxmlformats.org/drawingml/2006/main">
              <a:ext uri="{FF2B5EF4-FFF2-40B4-BE49-F238E27FC236}">
                <a16:creationId xmlns:a16="http://schemas.microsoft.com/office/drawing/2014/main" id="{C0141611-098F-44FA-8997-072D1A72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12" name="person-0">
            <a:extLst xmlns:a="http://schemas.openxmlformats.org/drawingml/2006/main">
              <a:ext uri="{FF2B5EF4-FFF2-40B4-BE49-F238E27FC236}">
                <a16:creationId xmlns:a16="http://schemas.microsoft.com/office/drawing/2014/main" id="{2D018AAE-E1EB-406A-92D7-3613B7C7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236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김태훈</a:t>
            </a:r>
          </a:p>
        </p:txBody>
      </p:sp>
      <p:sp>
        <p:nvSpPr>
          <p:cNvPr id="13" name="person-detail-0">
            <a:extLst xmlns:a="http://schemas.openxmlformats.org/drawingml/2006/main">
              <a:ext uri="{FF2B5EF4-FFF2-40B4-BE49-F238E27FC236}">
                <a16:creationId xmlns:a16="http://schemas.microsoft.com/office/drawing/2014/main" id="{33090421-7E6E-41FE-A0FF-1FEC10E6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247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우주항공 엔지니어</a:t>
            </a:r>
          </a:p>
          <a:p xmlns:a="http://schemas.openxmlformats.org/drawingml/2006/main">
            <a:pPr>
              <a:defRPr sz="135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OpenAI GPT-5.5</a:t>
            </a:r>
          </a:p>
          <a:p xmlns:a="http://schemas.openxmlformats.org/drawingml/2006/main">
            <a:pPr>
              <a:defRPr sz="135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초기 입장 +100</a:t>
            </a:r>
          </a:p>
        </p:txBody>
      </p:sp>
      <p:sp>
        <p:nvSpPr>
          <p:cNvPr id="14" name="person-rule-1">
            <a:extLst xmlns:a="http://schemas.openxmlformats.org/drawingml/2006/main">
              <a:ext uri="{FF2B5EF4-FFF2-40B4-BE49-F238E27FC236}">
                <a16:creationId xmlns:a16="http://schemas.microsoft.com/office/drawing/2014/main" id="{B7919B91-C07D-4CC3-9317-731A7E8B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38550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15" name="person-1">
            <a:extLst xmlns:a="http://schemas.openxmlformats.org/drawingml/2006/main">
              <a:ext uri="{FF2B5EF4-FFF2-40B4-BE49-F238E27FC236}">
                <a16:creationId xmlns:a16="http://schemas.microsoft.com/office/drawing/2014/main" id="{B25A343C-8E7A-4AD1-8712-FE873B21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10000"/>
            <a:ext cx="236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박서연</a:t>
            </a:r>
          </a:p>
        </p:txBody>
      </p:sp>
      <p:sp>
        <p:nvSpPr>
          <p:cNvPr id="16" name="person-detail-1">
            <a:extLst xmlns:a="http://schemas.openxmlformats.org/drawingml/2006/main">
              <a:ext uri="{FF2B5EF4-FFF2-40B4-BE49-F238E27FC236}">
                <a16:creationId xmlns:a16="http://schemas.microsoft.com/office/drawing/2014/main" id="{08122CC1-4587-4AF6-ABFE-20861145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67200"/>
            <a:ext cx="247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테크기업 투자자</a:t>
            </a:r>
          </a:p>
          <a:p xmlns:a="http://schemas.openxmlformats.org/drawingml/2006/main">
            <a:pPr>
              <a:defRPr sz="135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xAI Grok 4.20</a:t>
            </a:r>
          </a:p>
          <a:p xmlns:a="http://schemas.openxmlformats.org/drawingml/2006/main">
            <a:pPr>
              <a:defRPr sz="135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초기 입장 +100</a:t>
            </a:r>
          </a:p>
        </p:txBody>
      </p:sp>
      <p:sp>
        <p:nvSpPr>
          <p:cNvPr id="17" name="person-rule-2">
            <a:extLst xmlns:a="http://schemas.openxmlformats.org/drawingml/2006/main">
              <a:ext uri="{FF2B5EF4-FFF2-40B4-BE49-F238E27FC236}">
                <a16:creationId xmlns:a16="http://schemas.microsoft.com/office/drawing/2014/main" id="{2CE68145-C79B-4934-9C6D-1CE35A7A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18" name="person-2">
            <a:extLst xmlns:a="http://schemas.openxmlformats.org/drawingml/2006/main">
              <a:ext uri="{FF2B5EF4-FFF2-40B4-BE49-F238E27FC236}">
                <a16:creationId xmlns:a16="http://schemas.microsoft.com/office/drawing/2014/main" id="{92C5A9E4-80A7-4BDE-A339-EBAD4CDB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236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이준호</a:t>
            </a:r>
          </a:p>
        </p:txBody>
      </p:sp>
      <p:sp>
        <p:nvSpPr>
          <p:cNvPr id="19" name="person-detail-2">
            <a:extLst xmlns:a="http://schemas.openxmlformats.org/drawingml/2006/main">
              <a:ext uri="{FF2B5EF4-FFF2-40B4-BE49-F238E27FC236}">
                <a16:creationId xmlns:a16="http://schemas.microsoft.com/office/drawing/2014/main" id="{7A0AC631-B142-4C30-96F9-9FF593CC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67200"/>
            <a:ext cx="247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AI 윤리·사회정책 연구자</a:t>
            </a:r>
          </a:p>
          <a:p xmlns:a="http://schemas.openxmlformats.org/drawingml/2006/main">
            <a:pPr>
              <a:defRPr sz="135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Claude Sonnet 5</a:t>
            </a:r>
          </a:p>
          <a:p xmlns:a="http://schemas.openxmlformats.org/drawingml/2006/main">
            <a:pPr>
              <a:defRPr sz="135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초기 입장 −100</a:t>
            </a:r>
          </a:p>
        </p:txBody>
      </p:sp>
      <p:sp>
        <p:nvSpPr>
          <p:cNvPr id="20" name="person-rule-3">
            <a:extLst xmlns:a="http://schemas.openxmlformats.org/drawingml/2006/main">
              <a:ext uri="{FF2B5EF4-FFF2-40B4-BE49-F238E27FC236}">
                <a16:creationId xmlns:a16="http://schemas.microsoft.com/office/drawing/2014/main" id="{AA1F13AC-4929-444E-80EC-AE89D810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38550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21" name="person-3">
            <a:extLst xmlns:a="http://schemas.openxmlformats.org/drawingml/2006/main">
              <a:ext uri="{FF2B5EF4-FFF2-40B4-BE49-F238E27FC236}">
                <a16:creationId xmlns:a16="http://schemas.microsoft.com/office/drawing/2014/main" id="{13C70DB4-AE1B-4038-A405-8D1DDC2C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10000"/>
            <a:ext cx="236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최유진</a:t>
            </a:r>
          </a:p>
        </p:txBody>
      </p:sp>
      <p:sp>
        <p:nvSpPr>
          <p:cNvPr id="22" name="person-detail-3">
            <a:extLst xmlns:a="http://schemas.openxmlformats.org/drawingml/2006/main">
              <a:ext uri="{FF2B5EF4-FFF2-40B4-BE49-F238E27FC236}">
                <a16:creationId xmlns:a16="http://schemas.microsoft.com/office/drawing/2014/main" id="{C3AE1BD5-52FA-490A-B8F9-A538F812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67200"/>
            <a:ext cx="247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노동·환경 전문 기자</a:t>
            </a:r>
          </a:p>
          <a:p xmlns:a="http://schemas.openxmlformats.org/drawingml/2006/main">
            <a:pPr>
              <a:defRPr sz="135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Gemini 3.5 Flash</a:t>
            </a:r>
          </a:p>
          <a:p xmlns:a="http://schemas.openxmlformats.org/drawingml/2006/main">
            <a:pPr>
              <a:defRPr sz="135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초기 입장 −100</a:t>
            </a:r>
          </a:p>
        </p:txBody>
      </p:sp>
      <p:sp>
        <p:nvSpPr>
          <p:cNvPr id="23" name="control-variables">
            <a:extLst xmlns:a="http://schemas.openxmlformats.org/drawingml/2006/main">
              <a:ext uri="{FF2B5EF4-FFF2-40B4-BE49-F238E27FC236}">
                <a16:creationId xmlns:a16="http://schemas.microsoft.com/office/drawing/2014/main" id="{4FD82BB8-30F8-4D8E-939E-4BAA16F4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통제 변수: 주제 · 페르소나 · 모델 · 사회자 · 매운맛 모드 · 찬반 구조</a:t>
            </a:r>
          </a:p>
        </p:txBody>
      </p:sp>
    </p:spTree>
    <p:extLst>
      <p:ext uri="{BB962C8B-B14F-4D97-AF65-F5344CB8AC3E}">
        <p14:creationId xmlns:p14="http://schemas.microsoft.com/office/powerpoint/2010/main" val="531260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A6307D-DEF7-46B2-93C2-BEE879C9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반복해도 진영은 갈리지 않았고, 합의도 없었다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3431CE0-154B-4EEE-B9AB-BDF22F78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38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F449D1E-7F7F-415D-8659-3E734E1C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kpi-summary">
            <a:extLst xmlns:a="http://schemas.openxmlformats.org/drawingml/2006/main">
              <a:ext uri="{FF2B5EF4-FFF2-40B4-BE49-F238E27FC236}">
                <a16:creationId xmlns:a16="http://schemas.microsoft.com/office/drawing/2014/main" id="{2A93B668-9F37-4A26-A914-63A39234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입장 방향은 안정적이었지만 대화는 끝까지 높은 긴장과 확신을 유지했다.</a:t>
            </a:r>
          </a:p>
        </p:txBody>
      </p:sp>
      <p:sp>
        <p:nvSpPr>
          <p:cNvPr id="5" name="kpi-panel-합의 달성">
            <a:extLst xmlns:a="http://schemas.openxmlformats.org/drawingml/2006/main">
              <a:ext uri="{FF2B5EF4-FFF2-40B4-BE49-F238E27FC236}">
                <a16:creationId xmlns:a16="http://schemas.microsoft.com/office/drawing/2014/main" id="{DD474F47-DC41-4727-BFB3-969FA46C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33909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pi-stat-합의 달성">
            <a:extLst xmlns:a="http://schemas.openxmlformats.org/drawingml/2006/main">
              <a:ext uri="{FF2B5EF4-FFF2-40B4-BE49-F238E27FC236}">
                <a16:creationId xmlns:a16="http://schemas.microsoft.com/office/drawing/2014/main" id="{21D1E7D7-854C-440D-B750-B526FAF1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289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 / 5회</a:t>
            </a:r>
          </a:p>
        </p:txBody>
      </p:sp>
      <p:sp>
        <p:nvSpPr>
          <p:cNvPr id="7" name="kpi-title-합의 달성">
            <a:extLst xmlns:a="http://schemas.openxmlformats.org/drawingml/2006/main">
              <a:ext uri="{FF2B5EF4-FFF2-40B4-BE49-F238E27FC236}">
                <a16:creationId xmlns:a16="http://schemas.microsoft.com/office/drawing/2014/main" id="{003B19A2-4A92-4401-8F21-2ADD0613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합의 달성</a:t>
            </a:r>
          </a:p>
        </p:txBody>
      </p:sp>
      <p:sp>
        <p:nvSpPr>
          <p:cNvPr id="8" name="kpi-body-합의 달성">
            <a:extLst xmlns:a="http://schemas.openxmlformats.org/drawingml/2006/main">
              <a:ext uri="{FF2B5EF4-FFF2-40B4-BE49-F238E27FC236}">
                <a16:creationId xmlns:a16="http://schemas.microsoft.com/office/drawing/2014/main" id="{1DB571C4-CFC7-480E-91DD-8C8C4AE7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289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매회 찬성 2명 · 반대 2명</a:t>
            </a:r>
          </a:p>
        </p:txBody>
      </p:sp>
      <p:sp>
        <p:nvSpPr>
          <p:cNvPr id="9" name="kpi-panel-전체 최종 중심">
            <a:extLst xmlns:a="http://schemas.openxmlformats.org/drawingml/2006/main">
              <a:ext uri="{FF2B5EF4-FFF2-40B4-BE49-F238E27FC236}">
                <a16:creationId xmlns:a16="http://schemas.microsoft.com/office/drawing/2014/main" id="{2599ACDC-E739-4B1C-9C17-11AE3872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38400"/>
            <a:ext cx="33909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kpi-stat-전체 최종 중심">
            <a:extLst xmlns:a="http://schemas.openxmlformats.org/drawingml/2006/main">
              <a:ext uri="{FF2B5EF4-FFF2-40B4-BE49-F238E27FC236}">
                <a16:creationId xmlns:a16="http://schemas.microsoft.com/office/drawing/2014/main" id="{4710F710-6AE4-4850-9F83-3AC1B00C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0350"/>
            <a:ext cx="289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−10.3점</a:t>
            </a:r>
          </a:p>
        </p:txBody>
      </p:sp>
      <p:sp>
        <p:nvSpPr>
          <p:cNvPr id="11" name="kpi-title-전체 최종 중심">
            <a:extLst xmlns:a="http://schemas.openxmlformats.org/drawingml/2006/main">
              <a:ext uri="{FF2B5EF4-FFF2-40B4-BE49-F238E27FC236}">
                <a16:creationId xmlns:a16="http://schemas.microsoft.com/office/drawing/2014/main" id="{5E22169B-50F8-48A6-831E-160F08F7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7665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전체 최종 중심</a:t>
            </a:r>
          </a:p>
        </p:txBody>
      </p:sp>
      <p:sp>
        <p:nvSpPr>
          <p:cNvPr id="12" name="kpi-body-전체 최종 중심">
            <a:extLst xmlns:a="http://schemas.openxmlformats.org/drawingml/2006/main">
              <a:ext uri="{FF2B5EF4-FFF2-40B4-BE49-F238E27FC236}">
                <a16:creationId xmlns:a16="http://schemas.microsoft.com/office/drawing/2014/main" id="{563CD65A-002E-4798-83A9-3B567DA1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71950"/>
            <a:ext cx="289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중립보다 약한 반대 방향</a:t>
            </a:r>
          </a:p>
        </p:txBody>
      </p:sp>
      <p:sp>
        <p:nvSpPr>
          <p:cNvPr id="13" name="kpi-panel-반박 발언">
            <a:extLst xmlns:a="http://schemas.openxmlformats.org/drawingml/2006/main">
              <a:ext uri="{FF2B5EF4-FFF2-40B4-BE49-F238E27FC236}">
                <a16:creationId xmlns:a16="http://schemas.microsoft.com/office/drawing/2014/main" id="{0403687D-F4CA-4973-93E0-1ED2E452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3909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kpi-stat-반박 발언">
            <a:extLst xmlns:a="http://schemas.openxmlformats.org/drawingml/2006/main">
              <a:ext uri="{FF2B5EF4-FFF2-40B4-BE49-F238E27FC236}">
                <a16:creationId xmlns:a16="http://schemas.microsoft.com/office/drawing/2014/main" id="{A0A5456B-4119-48C5-B448-B81B7C30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00350"/>
            <a:ext cx="289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84.6%</a:t>
            </a:r>
          </a:p>
        </p:txBody>
      </p:sp>
      <p:sp>
        <p:nvSpPr>
          <p:cNvPr id="15" name="kpi-title-반박 발언">
            <a:extLst xmlns:a="http://schemas.openxmlformats.org/drawingml/2006/main">
              <a:ext uri="{FF2B5EF4-FFF2-40B4-BE49-F238E27FC236}">
                <a16:creationId xmlns:a16="http://schemas.microsoft.com/office/drawing/2014/main" id="{75AA83D9-5273-4051-850D-B27BC5F5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7665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반박 발언</a:t>
            </a:r>
          </a:p>
        </p:txBody>
      </p:sp>
      <p:sp>
        <p:nvSpPr>
          <p:cNvPr id="16" name="kpi-body-반박 발언">
            <a:extLst xmlns:a="http://schemas.openxmlformats.org/drawingml/2006/main">
              <a:ext uri="{FF2B5EF4-FFF2-40B4-BE49-F238E27FC236}">
                <a16:creationId xmlns:a16="http://schemas.microsoft.com/office/drawing/2014/main" id="{873D9F4C-1644-4C1B-8B95-3C93B91E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71950"/>
            <a:ext cx="289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패널 91발언 중 77회</a:t>
            </a:r>
          </a:p>
        </p:txBody>
      </p:sp>
      <p:sp>
        <p:nvSpPr>
          <p:cNvPr id="17" name="kpi-interpretation">
            <a:extLst xmlns:a="http://schemas.openxmlformats.org/drawingml/2006/main">
              <a:ext uri="{FF2B5EF4-FFF2-40B4-BE49-F238E27FC236}">
                <a16:creationId xmlns:a16="http://schemas.microsoft.com/office/drawing/2014/main" id="{05B23CA9-1089-4E98-8EB8-9F535532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해석: 매운맛은 입장 역전보다 반박 빈도와 자신감을 높이는 방식으로 작동했다.</a:t>
            </a:r>
          </a:p>
        </p:txBody>
      </p:sp>
    </p:spTree>
    <p:extLst>
      <p:ext uri="{BB962C8B-B14F-4D97-AF65-F5344CB8AC3E}">
        <p14:creationId xmlns:p14="http://schemas.microsoft.com/office/powerpoint/2010/main" val="16674438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134929-5805-436A-A149-69F98467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찬성 측만 조건부 찬성으로 뚜렷하게 이동했다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A119B98-0FDF-4143-9899-59190287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38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4E98A25-BE51-478E-B8BC-51C50688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47875d9a8747ab"/>
          <a:stretch xmlns:a="http://schemas.openxmlformats.org/drawingml/2006/main"/>
        </p:blipFill>
        <p:spPr>
          <a:xfrm xmlns:a="http://schemas.openxmlformats.org/drawingml/2006/main">
            <a:off x="438150" y="1501728"/>
            <a:ext cx="11315700" cy="3244943"/>
          </a:xfrm>
          <a:prstGeom xmlns:a="http://schemas.openxmlformats.org/drawingml/2006/main" prst="rect">
            <a:avLst/>
          </a:prstGeom>
        </p:spPr>
      </p:pic>
      <p:sp>
        <p:nvSpPr>
          <p:cNvPr id="5" name="pro-shift">
            <a:extLst xmlns:a="http://schemas.openxmlformats.org/drawingml/2006/main">
              <a:ext uri="{FF2B5EF4-FFF2-40B4-BE49-F238E27FC236}">
                <a16:creationId xmlns:a16="http://schemas.microsoft.com/office/drawing/2014/main" id="{6F82C84B-FB55-4493-B4A0-F1C25108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김태훈 −25.2점 · 박서연 −31.2점</a:t>
            </a:r>
          </a:p>
        </p:txBody>
      </p:sp>
      <p:sp>
        <p:nvSpPr>
          <p:cNvPr id="6" name="con-shift">
            <a:extLst xmlns:a="http://schemas.openxmlformats.org/drawingml/2006/main">
              <a:ext uri="{FF2B5EF4-FFF2-40B4-BE49-F238E27FC236}">
                <a16:creationId xmlns:a16="http://schemas.microsoft.com/office/drawing/2014/main" id="{92683E5A-D570-4D1D-85DD-3B7AC236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340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이준호 +15.0점 · 최유진 +0.2점</a:t>
            </a:r>
          </a:p>
        </p:txBody>
      </p:sp>
      <p:sp>
        <p:nvSpPr>
          <p:cNvPr id="7" name="shift-takeaway">
            <a:extLst xmlns:a="http://schemas.openxmlformats.org/drawingml/2006/main">
              <a:ext uri="{FF2B5EF4-FFF2-40B4-BE49-F238E27FC236}">
                <a16:creationId xmlns:a16="http://schemas.microsoft.com/office/drawing/2014/main" id="{A953A275-F41F-4656-88ED-068D4F02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기술 성과를 인정하더라도 반대 측의 핵심 판단은 거의 바뀌지 않았다.</a:t>
            </a:r>
          </a:p>
        </p:txBody>
      </p:sp>
    </p:spTree>
    <p:extLst>
      <p:ext uri="{BB962C8B-B14F-4D97-AF65-F5344CB8AC3E}">
        <p14:creationId xmlns:p14="http://schemas.microsoft.com/office/powerpoint/2010/main" val="13987341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17CA98-3FF7-46ED-BA5F-4871176F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실행별 흔들림은 있었지만 입장 역전은 한 번도 없었다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5059D9E-DEF2-4B72-9FFA-FB0CE6EA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38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04640E7-37E2-4DA2-AE64-2C383088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71162004e84fe1"/>
          <a:stretch xmlns:a="http://schemas.openxmlformats.org/drawingml/2006/main"/>
        </p:blipFill>
        <p:spPr>
          <a:xfrm xmlns:a="http://schemas.openxmlformats.org/drawingml/2006/main">
            <a:off x="400050" y="1423112"/>
            <a:ext cx="8572500" cy="4049876"/>
          </a:xfrm>
          <a:prstGeom xmlns:a="http://schemas.openxmlformats.org/drawingml/2006/main" prst="rect">
            <a:avLst/>
          </a:prstGeom>
        </p:spPr>
      </p:pic>
      <p:sp>
        <p:nvSpPr>
          <p:cNvPr id="5" name="variance-rail">
            <a:extLst xmlns:a="http://schemas.openxmlformats.org/drawingml/2006/main">
              <a:ext uri="{FF2B5EF4-FFF2-40B4-BE49-F238E27FC236}">
                <a16:creationId xmlns:a16="http://schemas.microsoft.com/office/drawing/2014/main" id="{BCAF1010-C385-4353-BBCE-E50A0A51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390650"/>
            <a:ext cx="25336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luid-label">
            <a:extLst xmlns:a="http://schemas.openxmlformats.org/drawingml/2006/main">
              <a:ext uri="{FF2B5EF4-FFF2-40B4-BE49-F238E27FC236}">
                <a16:creationId xmlns:a16="http://schemas.microsoft.com/office/drawing/2014/main" id="{A51B5CC3-AB42-46E1-93BE-D152D59D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676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가장 유동적</a:t>
            </a:r>
          </a:p>
        </p:txBody>
      </p:sp>
      <p:sp>
        <p:nvSpPr>
          <p:cNvPr id="7" name="fluid-agent">
            <a:extLst xmlns:a="http://schemas.openxmlformats.org/drawingml/2006/main">
              <a:ext uri="{FF2B5EF4-FFF2-40B4-BE49-F238E27FC236}">
                <a16:creationId xmlns:a16="http://schemas.microsoft.com/office/drawing/2014/main" id="{40C2486A-13D9-406B-A6D9-14B06B21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764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박서연</a:t>
            </a:r>
          </a:p>
        </p:txBody>
      </p:sp>
      <p:sp>
        <p:nvSpPr>
          <p:cNvPr id="8" name="fluid-range">
            <a:extLst xmlns:a="http://schemas.openxmlformats.org/drawingml/2006/main">
              <a:ext uri="{FF2B5EF4-FFF2-40B4-BE49-F238E27FC236}">
                <a16:creationId xmlns:a16="http://schemas.microsoft.com/office/drawing/2014/main" id="{FA56A434-435F-4C6B-B7D1-3FAD153B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908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65~78점</a:t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표준편차 5.36</a:t>
            </a:r>
          </a:p>
        </p:txBody>
      </p:sp>
      <p:sp>
        <p:nvSpPr>
          <p:cNvPr id="9" name="fixed-label">
            <a:extLst xmlns:a="http://schemas.openxmlformats.org/drawingml/2006/main">
              <a:ext uri="{FF2B5EF4-FFF2-40B4-BE49-F238E27FC236}">
                <a16:creationId xmlns:a16="http://schemas.microsoft.com/office/drawing/2014/main" id="{AFA337FA-E29E-4D93-8C44-FBA9964F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385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가장 고정적</a:t>
            </a:r>
          </a:p>
        </p:txBody>
      </p:sp>
      <p:sp>
        <p:nvSpPr>
          <p:cNvPr id="10" name="fixed-agent">
            <a:extLst xmlns:a="http://schemas.openxmlformats.org/drawingml/2006/main">
              <a:ext uri="{FF2B5EF4-FFF2-40B4-BE49-F238E27FC236}">
                <a16:creationId xmlns:a16="http://schemas.microsoft.com/office/drawing/2014/main" id="{59A353B3-AE40-4B73-ABF8-257174E7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386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이준호</a:t>
            </a:r>
          </a:p>
        </p:txBody>
      </p:sp>
      <p:sp>
        <p:nvSpPr>
          <p:cNvPr id="11" name="fixed-range">
            <a:extLst xmlns:a="http://schemas.openxmlformats.org/drawingml/2006/main">
              <a:ext uri="{FF2B5EF4-FFF2-40B4-BE49-F238E27FC236}">
                <a16:creationId xmlns:a16="http://schemas.microsoft.com/office/drawing/2014/main" id="{D295C6CA-8D0E-41A2-8B65-293C2560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5529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매회 −85점</a:t>
            </a:r>
          </a:p>
        </p:txBody>
      </p:sp>
      <p:sp>
        <p:nvSpPr>
          <p:cNvPr id="12" name="variance-takeaway">
            <a:extLst xmlns:a="http://schemas.openxmlformats.org/drawingml/2006/main">
              <a:ext uri="{FF2B5EF4-FFF2-40B4-BE49-F238E27FC236}">
                <a16:creationId xmlns:a16="http://schemas.microsoft.com/office/drawing/2014/main" id="{B564EE2F-B8D6-43D4-8AB3-022E7AAE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81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결론 방향은 재현됐고, 변동은 주로 찬성 측의 완화 폭에서 나타났다.</a:t>
            </a:r>
          </a:p>
        </p:txBody>
      </p:sp>
    </p:spTree>
    <p:extLst>
      <p:ext uri="{BB962C8B-B14F-4D97-AF65-F5344CB8AC3E}">
        <p14:creationId xmlns:p14="http://schemas.microsoft.com/office/powerpoint/2010/main" val="9652275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65E080-1F1C-4D06-8B9F-23037C3E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발언권 편차가 어떤 논점이 부각되는지를 바꿨다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4DA2976-B737-416C-8DAD-0CD9C4A5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38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7EE87A1-C96C-40E8-88F6-2167C1CD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9a0f37fdf443f0"/>
          <a:stretch xmlns:a="http://schemas.openxmlformats.org/drawingml/2006/main"/>
        </p:blipFill>
        <p:spPr>
          <a:xfrm xmlns:a="http://schemas.openxmlformats.org/drawingml/2006/main">
            <a:off x="419100" y="1304032"/>
            <a:ext cx="11334750" cy="3354586"/>
          </a:xfrm>
          <a:prstGeom xmlns:a="http://schemas.openxmlformats.org/drawingml/2006/main" prst="rect">
            <a:avLst/>
          </a:prstGeom>
        </p:spPr>
      </p:pic>
      <p:sp>
        <p:nvSpPr>
          <p:cNvPr id="5" name="speaker-share-title">
            <a:extLst xmlns:a="http://schemas.openxmlformats.org/drawingml/2006/main">
              <a:ext uri="{FF2B5EF4-FFF2-40B4-BE49-F238E27FC236}">
                <a16:creationId xmlns:a16="http://schemas.microsoft.com/office/drawing/2014/main" id="{CE3220EB-B810-41CB-A93E-7FEBCBA5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최유진 + 김태훈</a:t>
            </a:r>
          </a:p>
        </p:txBody>
      </p:sp>
      <p:sp>
        <p:nvSpPr>
          <p:cNvPr id="6" name="speaker-share-body">
            <a:extLst xmlns:a="http://schemas.openxmlformats.org/drawingml/2006/main">
              <a:ext uri="{FF2B5EF4-FFF2-40B4-BE49-F238E27FC236}">
                <a16:creationId xmlns:a16="http://schemas.microsoft.com/office/drawing/2014/main" id="{5D042A01-491A-4768-B8D6-0607ADB0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전체 패널 발언의 72.5%</a:t>
            </a:r>
          </a:p>
        </p:txBody>
      </p:sp>
      <p:sp>
        <p:nvSpPr>
          <p:cNvPr id="7" name="theme-axis-title">
            <a:extLst xmlns:a="http://schemas.openxmlformats.org/drawingml/2006/main">
              <a:ext uri="{FF2B5EF4-FFF2-40B4-BE49-F238E27FC236}">
                <a16:creationId xmlns:a16="http://schemas.microsoft.com/office/drawing/2014/main" id="{03184A23-A47B-4AF7-8EB7-1E3AC524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863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주요 대립 축</a:t>
            </a:r>
          </a:p>
        </p:txBody>
      </p:sp>
      <p:sp>
        <p:nvSpPr>
          <p:cNvPr id="8" name="theme-axis-body">
            <a:extLst xmlns:a="http://schemas.openxmlformats.org/drawingml/2006/main">
              <a:ext uri="{FF2B5EF4-FFF2-40B4-BE49-F238E27FC236}">
                <a16:creationId xmlns:a16="http://schemas.microsoft.com/office/drawing/2014/main" id="{D72B099D-8193-4C31-9010-E7FEBA46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435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기술 성과 ↔ 노동·안전·책임</a:t>
            </a:r>
          </a:p>
        </p:txBody>
      </p:sp>
      <p:sp>
        <p:nvSpPr>
          <p:cNvPr id="9" name="speaker-caveat">
            <a:extLst xmlns:a="http://schemas.openxmlformats.org/drawingml/2006/main">
              <a:ext uri="{FF2B5EF4-FFF2-40B4-BE49-F238E27FC236}">
                <a16:creationId xmlns:a16="http://schemas.microsoft.com/office/drawing/2014/main" id="{B5ABC767-7D7D-48D3-B93A-5CE91102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531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주의: 논점 빈도에는 대화 내용뿐 아니라 발언 순서와 발언권 배분 효과가 포함된다.</a:t>
            </a:r>
          </a:p>
        </p:txBody>
      </p:sp>
    </p:spTree>
    <p:extLst>
      <p:ext uri="{BB962C8B-B14F-4D97-AF65-F5344CB8AC3E}">
        <p14:creationId xmlns:p14="http://schemas.microsoft.com/office/powerpoint/2010/main" val="19932367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189AEC-1689-4D93-ACDF-C6115C87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매운맛은 욕설보다 반박과 확신으로 나타났다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8A86297-4A27-407B-A0C3-70BB3DAE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38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CAFE66D-0B80-4F53-9401-C2CCEA4F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c47a89420a46a9"/>
          <a:stretch xmlns:a="http://schemas.openxmlformats.org/drawingml/2006/main"/>
        </p:blipFill>
        <p:spPr>
          <a:xfrm xmlns:a="http://schemas.openxmlformats.org/drawingml/2006/main">
            <a:off x="419100" y="1300014"/>
            <a:ext cx="11334750" cy="3114973"/>
          </a:xfrm>
          <a:prstGeom xmlns:a="http://schemas.openxmlformats.org/drawingml/2006/main" prst="rect">
            <a:avLst/>
          </a:prstGeom>
        </p:spPr>
      </p:pic>
      <p:sp>
        <p:nvSpPr>
          <p:cNvPr id="5" name="tone-80% 이상">
            <a:extLst xmlns:a="http://schemas.openxmlformats.org/drawingml/2006/main">
              <a:ext uri="{FF2B5EF4-FFF2-40B4-BE49-F238E27FC236}">
                <a16:creationId xmlns:a16="http://schemas.microsoft.com/office/drawing/2014/main" id="{5B3DF3FF-2622-4B91-B83F-66A5D814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80% 이상</a:t>
            </a:r>
          </a:p>
        </p:txBody>
      </p:sp>
      <p:sp>
        <p:nvSpPr>
          <p:cNvPr id="6" name="tone-body-80% 이상">
            <a:extLst xmlns:a="http://schemas.openxmlformats.org/drawingml/2006/main">
              <a:ext uri="{FF2B5EF4-FFF2-40B4-BE49-F238E27FC236}">
                <a16:creationId xmlns:a16="http://schemas.microsoft.com/office/drawing/2014/main" id="{1FB76104-6825-407C-9287-6D3AC28B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모든 실행에서 반박 중심</a:t>
            </a:r>
          </a:p>
        </p:txBody>
      </p:sp>
      <p:sp>
        <p:nvSpPr>
          <p:cNvPr id="7" name="tone-86.8%">
            <a:extLst xmlns:a="http://schemas.openxmlformats.org/drawingml/2006/main">
              <a:ext uri="{FF2B5EF4-FFF2-40B4-BE49-F238E27FC236}">
                <a16:creationId xmlns:a16="http://schemas.microsoft.com/office/drawing/2014/main" id="{73DF4E70-70C5-4CB6-B02D-BB7DB064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768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86.8%</a:t>
            </a:r>
          </a:p>
        </p:txBody>
      </p:sp>
      <p:sp>
        <p:nvSpPr>
          <p:cNvPr id="8" name="tone-body-86.8%">
            <a:extLst xmlns:a="http://schemas.openxmlformats.org/drawingml/2006/main">
              <a:ext uri="{FF2B5EF4-FFF2-40B4-BE49-F238E27FC236}">
                <a16:creationId xmlns:a16="http://schemas.microsoft.com/office/drawing/2014/main" id="{1E0E40DF-CA3C-4487-81AE-B8128BE7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4292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5회 평균 확신도</a:t>
            </a:r>
          </a:p>
        </p:txBody>
      </p:sp>
      <p:sp>
        <p:nvSpPr>
          <p:cNvPr id="9" name="tone-12.1%">
            <a:extLst xmlns:a="http://schemas.openxmlformats.org/drawingml/2006/main">
              <a:ext uri="{FF2B5EF4-FFF2-40B4-BE49-F238E27FC236}">
                <a16:creationId xmlns:a16="http://schemas.microsoft.com/office/drawing/2014/main" id="{87CEE28B-C158-4915-A53A-62BB68EE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768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12.1%</a:t>
            </a:r>
          </a:p>
        </p:txBody>
      </p:sp>
      <p:sp>
        <p:nvSpPr>
          <p:cNvPr id="10" name="tone-body-12.1%">
            <a:extLst xmlns:a="http://schemas.openxmlformats.org/drawingml/2006/main">
              <a:ext uri="{FF2B5EF4-FFF2-40B4-BE49-F238E27FC236}">
                <a16:creationId xmlns:a16="http://schemas.microsoft.com/office/drawing/2014/main" id="{ACD175FF-DF8A-4A48-99B2-F7D83A12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292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격한 표현 탐지 발언 비율</a:t>
            </a:r>
          </a:p>
        </p:txBody>
      </p:sp>
      <p:sp>
        <p:nvSpPr>
          <p:cNvPr id="11" name="tone-takeaway">
            <a:extLst xmlns:a="http://schemas.openxmlformats.org/drawingml/2006/main">
              <a:ext uri="{FF2B5EF4-FFF2-40B4-BE49-F238E27FC236}">
                <a16:creationId xmlns:a16="http://schemas.microsoft.com/office/drawing/2014/main" id="{FF35B290-D4F9-46E3-8AF6-82D334F3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공격적인 연출은 합의보다 기존 진영의 논리를 더 강하게 방어하게 만들었다.</a:t>
            </a:r>
          </a:p>
        </p:txBody>
      </p:sp>
    </p:spTree>
    <p:extLst>
      <p:ext uri="{BB962C8B-B14F-4D97-AF65-F5344CB8AC3E}">
        <p14:creationId xmlns:p14="http://schemas.microsoft.com/office/powerpoint/2010/main" val="15108984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ACE85F-E720-4136-A9DA-7706D83B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결론: 매운맛은 합의를 만들지 않았고, 기존 진영을 강화했다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A8BF3BE-8FEE-4C67-8EE6-D40F68B1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38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2436285-6C7E-4EC3-B302-EC68D190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confirmed-title">
            <a:extLst xmlns:a="http://schemas.openxmlformats.org/drawingml/2006/main">
              <a:ext uri="{FF2B5EF4-FFF2-40B4-BE49-F238E27FC236}">
                <a16:creationId xmlns:a16="http://schemas.microsoft.com/office/drawing/2014/main" id="{8F941A30-0FFF-42DC-BE4D-1103735B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이번 실험에서 확인한 것</a:t>
            </a:r>
          </a:p>
        </p:txBody>
      </p:sp>
      <p:sp>
        <p:nvSpPr>
          <p:cNvPr id="5" name="confirmed-list">
            <a:extLst xmlns:a="http://schemas.openxmlformats.org/drawingml/2006/main">
              <a:ext uri="{FF2B5EF4-FFF2-40B4-BE49-F238E27FC236}">
                <a16:creationId xmlns:a16="http://schemas.microsoft.com/office/drawing/2014/main" id="{ED34932A-D05D-4C00-BBD8-F6B9D809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49530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01  결론 방향은 5회 모두 동일했다.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02  찬성 측만 조건부 찬성으로 완화됐다.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03  높은 반박·확신은 합의로 이어지지 않았다.</a:t>
            </a:r>
          </a:p>
        </p:txBody>
      </p:sp>
      <p:sp>
        <p:nvSpPr>
          <p:cNvPr id="6" name="center-divider">
            <a:extLst xmlns:a="http://schemas.openxmlformats.org/drawingml/2006/main">
              <a:ext uri="{FF2B5EF4-FFF2-40B4-BE49-F238E27FC236}">
                <a16:creationId xmlns:a16="http://schemas.microsoft.com/office/drawing/2014/main" id="{31E7A4FC-75AB-4B0C-B916-2F80579C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39065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next-title">
            <a:extLst xmlns:a="http://schemas.openxmlformats.org/drawingml/2006/main">
              <a:ext uri="{FF2B5EF4-FFF2-40B4-BE49-F238E27FC236}">
                <a16:creationId xmlns:a16="http://schemas.microsoft.com/office/drawing/2014/main" id="{29D0D34F-7443-4539-9ACA-BBA5A071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668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다음 실험에서 바꿀 것</a:t>
            </a:r>
          </a:p>
        </p:txBody>
      </p:sp>
      <p:sp>
        <p:nvSpPr>
          <p:cNvPr id="8" name="next-list">
            <a:extLst xmlns:a="http://schemas.openxmlformats.org/drawingml/2006/main">
              <a:ext uri="{FF2B5EF4-FFF2-40B4-BE49-F238E27FC236}">
                <a16:creationId xmlns:a16="http://schemas.microsoft.com/office/drawing/2014/main" id="{DDCDF79C-9688-433C-B278-742DBD63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71700"/>
            <a:ext cx="4762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01  참가자별 발언 횟수를 동일하게 고정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02  같은 모델에 페르소나만 바꾼 통제군 추가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03  차분·논리·감정 톤을 각각 5회 반복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04  AI 발언의 사실·수치를 별도 검증</a:t>
            </a:r>
          </a:p>
        </p:txBody>
      </p:sp>
      <p:sp>
        <p:nvSpPr>
          <p:cNvPr id="9" name="final-label">
            <a:extLst xmlns:a="http://schemas.openxmlformats.org/drawingml/2006/main">
              <a:ext uri="{FF2B5EF4-FFF2-40B4-BE49-F238E27FC236}">
                <a16:creationId xmlns:a16="http://schemas.microsoft.com/office/drawing/2014/main" id="{00D3F19A-1F4A-492E-9970-DA7F7B7A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발표 핵심 문장</a:t>
            </a:r>
          </a:p>
        </p:txBody>
      </p:sp>
      <p:sp>
        <p:nvSpPr>
          <p:cNvPr id="10" name="final-message">
            <a:extLst xmlns:a="http://schemas.openxmlformats.org/drawingml/2006/main">
              <a:ext uri="{FF2B5EF4-FFF2-40B4-BE49-F238E27FC236}">
                <a16:creationId xmlns:a16="http://schemas.microsoft.com/office/drawing/2014/main" id="{B81C43A5-250C-4E49-B7CF-657481C3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388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톤은 결론보다 토론의 강도와 논점 배분을 더 크게 바꿨다.</a:t>
            </a:r>
          </a:p>
        </p:txBody>
      </p:sp>
    </p:spTree>
    <p:extLst>
      <p:ext uri="{BB962C8B-B14F-4D97-AF65-F5344CB8AC3E}">
        <p14:creationId xmlns:p14="http://schemas.microsoft.com/office/powerpoint/2010/main" val="16693203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2026-08-28T05:48:29.3600000Z</dcterms:created>
  <dcterms:modified xsi:type="dcterms:W3CDTF">2026-08-28T05:48:29.3600000Z</dcterms:modified>
</coreProperties>
</file>