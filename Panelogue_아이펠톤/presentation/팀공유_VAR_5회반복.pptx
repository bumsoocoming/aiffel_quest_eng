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77735fce41444e" /><Relationship Type="http://schemas.openxmlformats.org/officeDocument/2006/relationships/extended-properties" Target="/docProps/app.xml" Id="R5fe9520f575c4e40" /><Relationship Type="http://schemas.openxmlformats.org/officeDocument/2006/relationships/officeDocument" Target="/ppt/presentation.xml" Id="Rf41aa3dde34e4d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af71cee64e4f01"/>
  </p:sldMasterIdLst>
  <p:notesMasterIdLst>
    <p:notesMasterId xmlns:r="http://schemas.openxmlformats.org/officeDocument/2006/relationships" r:id="R954d6f282e3b4449"/>
  </p:notesMasterIdLst>
  <p:sldIdLst>
    <p:sldId xmlns:r="http://schemas.openxmlformats.org/officeDocument/2006/relationships" id="256" r:id="R200019f42c54438e"/>
    <p:sldId xmlns:r="http://schemas.openxmlformats.org/officeDocument/2006/relationships" id="257" r:id="R50c0f61c94e5421d"/>
    <p:sldId xmlns:r="http://schemas.openxmlformats.org/officeDocument/2006/relationships" id="258" r:id="Rfe0f2d7e9f0b42b3"/>
    <p:sldId xmlns:r="http://schemas.openxmlformats.org/officeDocument/2006/relationships" id="259" r:id="R773e3b7f219c49f6"/>
    <p:sldId xmlns:r="http://schemas.openxmlformats.org/officeDocument/2006/relationships" id="260" r:id="R9fa6ef0129d94e0e"/>
    <p:sldId xmlns:r="http://schemas.openxmlformats.org/officeDocument/2006/relationships" id="261" r:id="R8ebae2afec4b4463"/>
    <p:sldId xmlns:r="http://schemas.openxmlformats.org/officeDocument/2006/relationships" id="262" r:id="R9cc027d061a64040"/>
    <p:sldId xmlns:r="http://schemas.openxmlformats.org/officeDocument/2006/relationships" id="263" r:id="R4a8ab2038400478f"/>
    <p:sldId xmlns:r="http://schemas.openxmlformats.org/officeDocument/2006/relationships" id="264" r:id="Ra04d630bfe5b4cbe"/>
    <p:sldId xmlns:r="http://schemas.openxmlformats.org/officeDocument/2006/relationships" id="265" r:id="Rf07999b5a71a4f29"/>
    <p:sldId xmlns:r="http://schemas.openxmlformats.org/officeDocument/2006/relationships" id="266" r:id="Rdeea1d24dda94a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61905d30774e2b" /><Relationship Type="http://schemas.openxmlformats.org/officeDocument/2006/relationships/slideMaster" Target="/ppt/slideMasters/slideMaster1.xml" Id="R2daf71cee64e4f01" /><Relationship Type="http://schemas.openxmlformats.org/officeDocument/2006/relationships/notesMaster" Target="/ppt/notesMasters/notesMaster1.xml" Id="R954d6f282e3b4449" /><Relationship Type="http://schemas.openxmlformats.org/officeDocument/2006/relationships/presProps" Target="/ppt/presProps.xml" Id="R1a640f0fc4554e18" /><Relationship Type="http://schemas.openxmlformats.org/officeDocument/2006/relationships/tableStyles" Target="/ppt/tableStyles.xml" Id="R5dd77e0234fb48a4" /><Relationship Type="http://schemas.openxmlformats.org/officeDocument/2006/relationships/slide" Target="/ppt/slides/slide1.xml" Id="R200019f42c54438e" /><Relationship Type="http://schemas.openxmlformats.org/officeDocument/2006/relationships/slide" Target="/ppt/slides/slide2.xml" Id="R50c0f61c94e5421d" /><Relationship Type="http://schemas.openxmlformats.org/officeDocument/2006/relationships/slide" Target="/ppt/slides/slide3.xml" Id="Rfe0f2d7e9f0b42b3" /><Relationship Type="http://schemas.openxmlformats.org/officeDocument/2006/relationships/slide" Target="/ppt/slides/slide4.xml" Id="R773e3b7f219c49f6" /><Relationship Type="http://schemas.openxmlformats.org/officeDocument/2006/relationships/slide" Target="/ppt/slides/slide5.xml" Id="R9fa6ef0129d94e0e" /><Relationship Type="http://schemas.openxmlformats.org/officeDocument/2006/relationships/slide" Target="/ppt/slides/slide6.xml" Id="R8ebae2afec4b4463" /><Relationship Type="http://schemas.openxmlformats.org/officeDocument/2006/relationships/slide" Target="/ppt/slides/slide7.xml" Id="R9cc027d061a64040" /><Relationship Type="http://schemas.openxmlformats.org/officeDocument/2006/relationships/slide" Target="/ppt/slides/slide8.xml" Id="R4a8ab2038400478f" /><Relationship Type="http://schemas.openxmlformats.org/officeDocument/2006/relationships/slide" Target="/ppt/slides/slide9.xml" Id="Ra04d630bfe5b4cbe" /><Relationship Type="http://schemas.openxmlformats.org/officeDocument/2006/relationships/slide" Target="/ppt/slides/slide10.xml" Id="Rf07999b5a71a4f29" /><Relationship Type="http://schemas.openxmlformats.org/officeDocument/2006/relationships/slide" Target="/ppt/slides/slide11.xml" Id="Rdeea1d24dda94a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ab2d81c11b41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f13bd5925b477e" /><Relationship Type="http://schemas.openxmlformats.org/officeDocument/2006/relationships/notesMaster" Target="/ppt/notesMasters/notesMaster1.xml" Id="Rd45cf4f4447d4c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c0d156d9664ebc" /><Relationship Type="http://schemas.openxmlformats.org/officeDocument/2006/relationships/notesMaster" Target="/ppt/notesMasters/notesMaster1.xml" Id="Re30103469b9642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496431354942d7" /><Relationship Type="http://schemas.openxmlformats.org/officeDocument/2006/relationships/notesMaster" Target="/ppt/notesMasters/notesMaster1.xml" Id="R947600a8da13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31d0ec40304a9f" /><Relationship Type="http://schemas.openxmlformats.org/officeDocument/2006/relationships/notesMaster" Target="/ppt/notesMasters/notesMaster1.xml" Id="R28aea46dc0274f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8a45e5ece64b89" /><Relationship Type="http://schemas.openxmlformats.org/officeDocument/2006/relationships/notesMaster" Target="/ppt/notesMasters/notesMaster1.xml" Id="R374e8142fbeb42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58fa1a28bf49a0" /><Relationship Type="http://schemas.openxmlformats.org/officeDocument/2006/relationships/notesMaster" Target="/ppt/notesMasters/notesMaster1.xml" Id="R34aeebb434514e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194321dcc44218" /><Relationship Type="http://schemas.openxmlformats.org/officeDocument/2006/relationships/notesMaster" Target="/ppt/notesMasters/notesMaster1.xml" Id="R714a84695c9f4d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2a47909bfe4b1c" /><Relationship Type="http://schemas.openxmlformats.org/officeDocument/2006/relationships/notesMaster" Target="/ppt/notesMasters/notesMaster1.xml" Id="R3efe8d16217b45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8ef10889ad4290" /><Relationship Type="http://schemas.openxmlformats.org/officeDocument/2006/relationships/notesMaster" Target="/ppt/notesMasters/notesMaster1.xml" Id="R4379651fb68743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bcd9ba4ccd449d" /><Relationship Type="http://schemas.openxmlformats.org/officeDocument/2006/relationships/notesMaster" Target="/ppt/notesMasters/notesMaster1.xml" Id="R3302ef85f26a42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c0d98e664b481b" /><Relationship Type="http://schemas.openxmlformats.org/officeDocument/2006/relationships/notesMaster" Target="/ppt/notesMasters/notesMaster1.xml" Id="R5a7689573ec949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설정을 다섯 번 반복했을 때 결론, 논조, 상호작용이 어떻게 달라지는지 분석한 발표다.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프로젝트\reports\assets\var-03-final-stances.png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주제, 참가자, 모델, 초기 입장 등 핵심 설정이 5회 모두 동일함을 확인했다.</a:t>
            </a:r>
          </a:p>
          <a:p xmlns:a="http://schemas.openxmlformats.org/drawingml/2006/main">
            <a:r>
              <a:t>모델과 페르소나가 동시에 달라 효과가 서로 섞이는 한계가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패널 발언의 85.4%가 반박 성격이었고 양보 표현은 1회뿐이었다.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프로젝트\reports\assets\var-01-summary.png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집단 중심은 모든 실행에서 −5.5~+3.8 사이지만 평균 절대 입장은 92.5~100.0이었다.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프로젝트\reports\assets\var-04-group-position.png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윤서아는 무조건적 확대에서 제한적 확대 쪽으로 이동했다.</a:t>
            </a:r>
          </a:p>
          <a:p xmlns:a="http://schemas.openxmlformats.org/drawingml/2006/main">
            <a:r>
              <a:t>박도현은 일부 안전장치의 가능성을 인정했지만 개입 확대 반대는 유지했다.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프로젝트\reports\assets\var-02-stance-shift.png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찬반 구성은 매회 2대 2였다.</a:t>
            </a:r>
          </a:p>
          <a:p xmlns:a="http://schemas.openxmlformats.org/drawingml/2006/main">
            <a:r>
              <a:t>개별 점수는 변했지만 찬성과 반대의 방향은 한 번도 바뀌지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프로젝트\reports\assets\var-03-final-stances.png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3회차는 한지우가 패널 발언의 47.1%를 차지했다.</a:t>
            </a:r>
          </a:p>
          <a:p xmlns:a="http://schemas.openxmlformats.org/drawingml/2006/main">
            <a:r>
              <a:t>직접 욕설은 패널 발언 89개 중 1개뿐이었다.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프로젝트\reports\assets\var-05-speaking-balance.png</a:t>
            </a:r>
          </a:p>
          <a:p xmlns:a="http://schemas.openxmlformats.org/drawingml/2006/main">
            <a:r>
              <a:t>- C:\Users\Admin\Documents\ChatGPT\아이펠 프로젝트\reports\assets\var-06-debate-style.png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 메타데이터 비율은 실제 사실 검증률이 아니라 근거·수치·사례 형식의 포함률이다.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프로젝트\reports\assets\var-07-agent-behavior.png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가장 강한 찬성자 김민석과 가장 강한 반대자 한지우 모두 투명성과 책임을 핵심 논점으로 사용했다.</a:t>
            </a:r>
          </a:p>
          <a:p xmlns:a="http://schemas.openxmlformats.org/drawingml/2006/main">
            <a:r>
              <a:t>차이는 문제를 제도로 통제할 수 있다고 보는지에 있었다.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프로젝트\reports\assets\var-08-themes.png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반박 네트워크는 대칭적이지 않았다.</a:t>
            </a:r>
          </a:p>
          <a:p xmlns:a="http://schemas.openxmlformats.org/drawingml/2006/main">
            <a:r>
              <a:t>한지우가 찬성 진영을 공격하는 중심 역할을 했고 김민석이 주된 검증 대상이었다.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  <a:p xmlns:a="http://schemas.openxmlformats.org/drawingml/2006/main">
            <a:r>
              <a:t>- C:\Users\Admin\Documents\ChatGPT\아이펠 프로젝트\reports\assets\var-09-reply-network.png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집단 평균만으로 합의를 판정하면 양극화를 놓치게 된다.</a:t>
            </a:r>
          </a:p>
          <a:p xmlns:a="http://schemas.openxmlformats.org/drawingml/2006/main">
            <a:r>
              <a:t>이번 실험의 정책적 결론은 단계적 시범 도입과 검증 장치의 선행이다.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C:/Users/Admin/Documents/ChatGPT/아이펠 프로젝트/VAR_AI심판_5회_반복토론_분석.md</a:t>
            </a:r>
          </a:p>
          <a:p xmlns:a="http://schemas.openxmlformats.org/drawingml/2006/main">
            <a:r>
              <a:t>- C:/Users/Admin/Documents/ChatGPT/아이펠 프로젝트/data/var-ai-referee-five-runs/analysis-summary.json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c99e8091e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a92181e51b4099" /><Relationship Type="http://schemas.openxmlformats.org/officeDocument/2006/relationships/slideLayout" Target="/ppt/slideLayouts/slideLayout1.xml" Id="Ra7aacfaca92a4c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aacfaca92a4c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93096510942bc" /><Relationship Type="http://schemas.openxmlformats.org/officeDocument/2006/relationships/image" Target="/ppt/media/image.png" Id="R69e876a2d4df46bf" /><Relationship Type="http://schemas.openxmlformats.org/officeDocument/2006/relationships/notesSlide" Target="/ppt/notesSlides/notesSlide1.xml" Id="Rbe117b1bd5c947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fd2c02dbd4e2b" /><Relationship Type="http://schemas.openxmlformats.org/officeDocument/2006/relationships/notesSlide" Target="/ppt/notesSlides/notesSlide2.xml" Id="R6191826135274b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72e774be94e7c" /><Relationship Type="http://schemas.openxmlformats.org/officeDocument/2006/relationships/image" Target="/ppt/media/image2.png" Id="R1b3db0eb1172408f" /><Relationship Type="http://schemas.openxmlformats.org/officeDocument/2006/relationships/notesSlide" Target="/ppt/notesSlides/notesSlide3.xml" Id="R20ff45534ce6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a0a6d8f6a421d" /><Relationship Type="http://schemas.openxmlformats.org/officeDocument/2006/relationships/image" Target="/ppt/media/image3.png" Id="Rb0bd8e8192344ab3" /><Relationship Type="http://schemas.openxmlformats.org/officeDocument/2006/relationships/notesSlide" Target="/ppt/notesSlides/notesSlide4.xml" Id="R6ce5b972c4624e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dee05e363414c" /><Relationship Type="http://schemas.openxmlformats.org/officeDocument/2006/relationships/image" Target="/ppt/media/image4.png" Id="R7e7fa4c4119f4b05" /><Relationship Type="http://schemas.openxmlformats.org/officeDocument/2006/relationships/notesSlide" Target="/ppt/notesSlides/notesSlide5.xml" Id="R0301aee1f7694e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e89a693c1429a" /><Relationship Type="http://schemas.openxmlformats.org/officeDocument/2006/relationships/image" Target="/ppt/media/image5.png" Id="Rea1d1dab9ebd42e8" /><Relationship Type="http://schemas.openxmlformats.org/officeDocument/2006/relationships/notesSlide" Target="/ppt/notesSlides/notesSlide6.xml" Id="R6ab881fae9934d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7e0086df64d4b" /><Relationship Type="http://schemas.openxmlformats.org/officeDocument/2006/relationships/image" Target="/ppt/media/image6.png" Id="Rb5da6999505b43a8" /><Relationship Type="http://schemas.openxmlformats.org/officeDocument/2006/relationships/image" Target="/ppt/media/image7.png" Id="R8250e75e4b4c4fe9" /><Relationship Type="http://schemas.openxmlformats.org/officeDocument/2006/relationships/notesSlide" Target="/ppt/notesSlides/notesSlide7.xml" Id="Rad785a830f524a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505cca48d495f" /><Relationship Type="http://schemas.openxmlformats.org/officeDocument/2006/relationships/image" Target="/ppt/media/image8.png" Id="R852a271cdcf14b22" /><Relationship Type="http://schemas.openxmlformats.org/officeDocument/2006/relationships/notesSlide" Target="/ppt/notesSlides/notesSlide8.xml" Id="R536964d4c24746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8fa076a0243be" /><Relationship Type="http://schemas.openxmlformats.org/officeDocument/2006/relationships/image" Target="/ppt/media/image9.png" Id="R8e6cd78ba1494c3c" /><Relationship Type="http://schemas.openxmlformats.org/officeDocument/2006/relationships/notesSlide" Target="/ppt/notesSlides/notesSlide9.xml" Id="Rf887255e097848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81e8a744c4649" /><Relationship Type="http://schemas.openxmlformats.org/officeDocument/2006/relationships/image" Target="/ppt/media/image10.png" Id="R0d815a59c81b4fc5" /><Relationship Type="http://schemas.openxmlformats.org/officeDocument/2006/relationships/notesSlide" Target="/ppt/notesSlides/notesSlide10.xml" Id="Rdf3b16f5782f42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7dac60109408e" /><Relationship Type="http://schemas.openxmlformats.org/officeDocument/2006/relationships/notesSlide" Target="/ppt/notesSlides/notesSlide11.xml" Id="R499c2be0a2a843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9E1F97C-D913-44E2-B181-DC4BA7E5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PANELOGUE · MULTI-LLM DEBATE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D3B5974E-B5DD-45CC-B90B-81C52A12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29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AI 심판 개입 확대,</a:t>
            </a:r>
          </a:p>
          <a:p xmlns:a="http://schemas.openxmlformats.org/drawingml/2006/main">
            <a:pPr>
              <a:defRPr sz="390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정확성인가 경기 훼손인가?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68D49C7E-3869-46EE-AA04-8833A55E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4개 LLM 패널 · 동일 조건 5회 반복 토론 분석</a:t>
            </a:r>
          </a:p>
        </p:txBody>
      </p:sp>
      <p:sp>
        <p:nvSpPr>
          <p:cNvPr id="4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E21F667C-785A-45C7-8E64-559504A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"/>
            <a:ext cx="544830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876a2d4df46bf"/>
          <a:stretch xmlns:a="http://schemas.openxmlformats.org/drawingml/2006/main"/>
        </p:blipFill>
        <p:spPr>
          <a:xfrm xmlns:a="http://schemas.openxmlformats.org/drawingml/2006/main">
            <a:off x="6438900" y="2053977"/>
            <a:ext cx="5143500" cy="2254746"/>
          </a:xfrm>
          <a:prstGeom xmlns:a="http://schemas.openxmlformats.org/drawingml/2006/main" prst="rect">
            <a:avLst/>
          </a:prstGeom>
        </p:spPr>
      </p:pic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CD5780F-B78B-43EE-8C50-E460CE47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AIFFEL 캡스톤 프로젝트 · 팀 공유용</a:t>
            </a:r>
          </a:p>
        </p:txBody>
      </p:sp>
    </p:spTree>
    <p:extLst>
      <p:ext uri="{BB962C8B-B14F-4D97-AF65-F5344CB8AC3E}">
        <p14:creationId xmlns:p14="http://schemas.microsoft.com/office/powerpoint/2010/main" val="1425071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F1FBF1-5B62-4BC1-A9B4-F883AF63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조건은 고정하고, 실행마다 달라지는 대화만 관찰했다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8E72B94-B151-4A01-A98B-548FF0A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AC44957-C974-469F-A1AE-FF934BD0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metric-5회">
            <a:extLst xmlns:a="http://schemas.openxmlformats.org/drawingml/2006/main">
              <a:ext uri="{FF2B5EF4-FFF2-40B4-BE49-F238E27FC236}">
                <a16:creationId xmlns:a16="http://schemas.microsoft.com/office/drawing/2014/main" id="{01246BF6-2E78-4114-92AB-41F400B1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5회</a:t>
            </a:r>
          </a:p>
        </p:txBody>
      </p:sp>
      <p:sp>
        <p:nvSpPr>
          <p:cNvPr id="5" name="metric-label-5회">
            <a:extLst xmlns:a="http://schemas.openxmlformats.org/drawingml/2006/main">
              <a:ext uri="{FF2B5EF4-FFF2-40B4-BE49-F238E27FC236}">
                <a16:creationId xmlns:a16="http://schemas.microsoft.com/office/drawing/2014/main" id="{D9B80990-A02A-496A-BA95-CE6AD530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동일 설정 반복</a:t>
            </a:r>
          </a:p>
        </p:txBody>
      </p:sp>
      <p:sp>
        <p:nvSpPr>
          <p:cNvPr id="6" name="metric-150턴">
            <a:extLst xmlns:a="http://schemas.openxmlformats.org/drawingml/2006/main">
              <a:ext uri="{FF2B5EF4-FFF2-40B4-BE49-F238E27FC236}">
                <a16:creationId xmlns:a16="http://schemas.microsoft.com/office/drawing/2014/main" id="{5D5CD2BE-CB91-4775-BCD6-C7708AFB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52550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150턴</a:t>
            </a:r>
          </a:p>
        </p:txBody>
      </p:sp>
      <p:sp>
        <p:nvSpPr>
          <p:cNvPr id="7" name="metric-label-150턴">
            <a:extLst xmlns:a="http://schemas.openxmlformats.org/drawingml/2006/main">
              <a:ext uri="{FF2B5EF4-FFF2-40B4-BE49-F238E27FC236}">
                <a16:creationId xmlns:a16="http://schemas.microsoft.com/office/drawing/2014/main" id="{6F197A3A-50F5-4FD0-ACB9-1E9E94A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전체 대화</a:t>
            </a:r>
          </a:p>
        </p:txBody>
      </p:sp>
      <p:sp>
        <p:nvSpPr>
          <p:cNvPr id="8" name="metric-89턴">
            <a:extLst xmlns:a="http://schemas.openxmlformats.org/drawingml/2006/main">
              <a:ext uri="{FF2B5EF4-FFF2-40B4-BE49-F238E27FC236}">
                <a16:creationId xmlns:a16="http://schemas.microsoft.com/office/drawing/2014/main" id="{9E0CF085-A901-420E-BDB2-C361EC4D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52550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89턴</a:t>
            </a:r>
          </a:p>
        </p:txBody>
      </p:sp>
      <p:sp>
        <p:nvSpPr>
          <p:cNvPr id="9" name="metric-label-89턴">
            <a:extLst xmlns:a="http://schemas.openxmlformats.org/drawingml/2006/main">
              <a:ext uri="{FF2B5EF4-FFF2-40B4-BE49-F238E27FC236}">
                <a16:creationId xmlns:a16="http://schemas.microsoft.com/office/drawing/2014/main" id="{6346134F-F6EB-40CF-90A0-F60F62F1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패널 발언</a:t>
            </a:r>
          </a:p>
        </p:txBody>
      </p:sp>
      <p:sp>
        <p:nvSpPr>
          <p:cNvPr id="10" name="metric-61턴">
            <a:extLst xmlns:a="http://schemas.openxmlformats.org/drawingml/2006/main">
              <a:ext uri="{FF2B5EF4-FFF2-40B4-BE49-F238E27FC236}">
                <a16:creationId xmlns:a16="http://schemas.microsoft.com/office/drawing/2014/main" id="{C6ABA8C0-431E-42CA-BC4E-3A5001DD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352550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61턴</a:t>
            </a:r>
          </a:p>
        </p:txBody>
      </p:sp>
      <p:sp>
        <p:nvSpPr>
          <p:cNvPr id="11" name="metric-label-61턴">
            <a:extLst xmlns:a="http://schemas.openxmlformats.org/drawingml/2006/main">
              <a:ext uri="{FF2B5EF4-FFF2-40B4-BE49-F238E27FC236}">
                <a16:creationId xmlns:a16="http://schemas.microsoft.com/office/drawing/2014/main" id="{DB27DBB5-7C69-4513-A413-7AC6222D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사회자 발언</a:t>
            </a:r>
          </a:p>
        </p:txBody>
      </p:sp>
      <p:sp>
        <p:nvSpPr>
          <p:cNvPr id="12" name="panel-heading">
            <a:extLst xmlns:a="http://schemas.openxmlformats.org/drawingml/2006/main">
              <a:ext uri="{FF2B5EF4-FFF2-40B4-BE49-F238E27FC236}">
                <a16:creationId xmlns:a16="http://schemas.microsoft.com/office/drawing/2014/main" id="{3AE7612A-A7FD-48E4-BFE7-5A1C3907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네 참가자는 처음부터 강한 찬반으로 배치됐다</a:t>
            </a:r>
          </a:p>
        </p:txBody>
      </p:sp>
      <p:sp>
        <p:nvSpPr>
          <p:cNvPr id="13" name="person-rule-0">
            <a:extLst xmlns:a="http://schemas.openxmlformats.org/drawingml/2006/main">
              <a:ext uri="{FF2B5EF4-FFF2-40B4-BE49-F238E27FC236}">
                <a16:creationId xmlns:a16="http://schemas.microsoft.com/office/drawing/2014/main" id="{3723879F-6ED6-4D70-AE90-D2326F23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4" name="person-0">
            <a:extLst xmlns:a="http://schemas.openxmlformats.org/drawingml/2006/main">
              <a:ext uri="{FF2B5EF4-FFF2-40B4-BE49-F238E27FC236}">
                <a16:creationId xmlns:a16="http://schemas.microsoft.com/office/drawing/2014/main" id="{05521120-894F-4910-81A6-FB5CA2B3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김민석</a:t>
            </a:r>
          </a:p>
        </p:txBody>
      </p:sp>
      <p:sp>
        <p:nvSpPr>
          <p:cNvPr id="15" name="person-detail-0">
            <a:extLst xmlns:a="http://schemas.openxmlformats.org/drawingml/2006/main">
              <a:ext uri="{FF2B5EF4-FFF2-40B4-BE49-F238E27FC236}">
                <a16:creationId xmlns:a16="http://schemas.microsoft.com/office/drawing/2014/main" id="{BDDB15D7-676E-41A0-B666-D7A2341E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VAR·데이터 엔지니어</a:t>
            </a:r>
          </a:p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GPT-5.5</a:t>
            </a:r>
          </a:p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초기 입장 +100</a:t>
            </a:r>
          </a:p>
        </p:txBody>
      </p:sp>
      <p:sp>
        <p:nvSpPr>
          <p:cNvPr id="16" name="person-rule-1">
            <a:extLst xmlns:a="http://schemas.openxmlformats.org/drawingml/2006/main">
              <a:ext uri="{FF2B5EF4-FFF2-40B4-BE49-F238E27FC236}">
                <a16:creationId xmlns:a16="http://schemas.microsoft.com/office/drawing/2014/main" id="{AEF9AD70-23E7-4721-8E10-4AA4F945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433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7" name="person-1">
            <a:extLst xmlns:a="http://schemas.openxmlformats.org/drawingml/2006/main">
              <a:ext uri="{FF2B5EF4-FFF2-40B4-BE49-F238E27FC236}">
                <a16:creationId xmlns:a16="http://schemas.microsoft.com/office/drawing/2014/main" id="{1F9C02A8-042B-4241-AB24-6C187AA3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338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윤서아</a:t>
            </a:r>
          </a:p>
        </p:txBody>
      </p:sp>
      <p:sp>
        <p:nvSpPr>
          <p:cNvPr id="18" name="person-detail-1">
            <a:extLst xmlns:a="http://schemas.openxmlformats.org/drawingml/2006/main">
              <a:ext uri="{FF2B5EF4-FFF2-40B4-BE49-F238E27FC236}">
                <a16:creationId xmlns:a16="http://schemas.microsoft.com/office/drawing/2014/main" id="{AB984997-0E02-46E7-922A-633F344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910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전직 국제심판</a:t>
            </a:r>
          </a:p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Grok 4.20</a:t>
            </a:r>
          </a:p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초기 입장 +100</a:t>
            </a:r>
          </a:p>
        </p:txBody>
      </p:sp>
      <p:sp>
        <p:nvSpPr>
          <p:cNvPr id="19" name="person-rule-2">
            <a:extLst xmlns:a="http://schemas.openxmlformats.org/drawingml/2006/main">
              <a:ext uri="{FF2B5EF4-FFF2-40B4-BE49-F238E27FC236}">
                <a16:creationId xmlns:a16="http://schemas.microsoft.com/office/drawing/2014/main" id="{4314FA5B-6D6D-4D5E-9BE5-868D8F6A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589B"/>
            </a:solidFill>
            <a:prstDash val="solid"/>
          </a:ln>
        </p:spPr>
      </p:sp>
      <p:sp>
        <p:nvSpPr>
          <p:cNvPr id="20" name="person-2">
            <a:extLst xmlns:a="http://schemas.openxmlformats.org/drawingml/2006/main">
              <a:ext uri="{FF2B5EF4-FFF2-40B4-BE49-F238E27FC236}">
                <a16:creationId xmlns:a16="http://schemas.microsoft.com/office/drawing/2014/main" id="{589DE2F6-FF9A-4138-AAA4-157A49D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박도현</a:t>
            </a:r>
          </a:p>
        </p:txBody>
      </p:sp>
      <p:sp>
        <p:nvSpPr>
          <p:cNvPr id="21" name="person-detail-2">
            <a:extLst xmlns:a="http://schemas.openxmlformats.org/drawingml/2006/main">
              <a:ext uri="{FF2B5EF4-FFF2-40B4-BE49-F238E27FC236}">
                <a16:creationId xmlns:a16="http://schemas.microsoft.com/office/drawing/2014/main" id="{EC76EE53-A13A-4EE1-8CB6-60A5D6AA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선수 출신 해설위원</a:t>
            </a:r>
          </a:p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Claude Sonnet 5</a:t>
            </a:r>
          </a:p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초기 입장 −100</a:t>
            </a:r>
          </a:p>
        </p:txBody>
      </p:sp>
      <p:sp>
        <p:nvSpPr>
          <p:cNvPr id="22" name="person-rule-3">
            <a:extLst xmlns:a="http://schemas.openxmlformats.org/drawingml/2006/main">
              <a:ext uri="{FF2B5EF4-FFF2-40B4-BE49-F238E27FC236}">
                <a16:creationId xmlns:a16="http://schemas.microsoft.com/office/drawing/2014/main" id="{C0584868-E0BE-4796-B184-0238364A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589B"/>
            </a:solidFill>
            <a:prstDash val="solid"/>
          </a:ln>
        </p:spPr>
      </p:sp>
      <p:sp>
        <p:nvSpPr>
          <p:cNvPr id="23" name="person-3">
            <a:extLst xmlns:a="http://schemas.openxmlformats.org/drawingml/2006/main">
              <a:ext uri="{FF2B5EF4-FFF2-40B4-BE49-F238E27FC236}">
                <a16:creationId xmlns:a16="http://schemas.microsoft.com/office/drawing/2014/main" id="{15B52288-33E5-4FC0-9B71-AC65DC18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338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한지우</a:t>
            </a:r>
          </a:p>
        </p:txBody>
      </p:sp>
      <p:sp>
        <p:nvSpPr>
          <p:cNvPr id="24" name="person-detail-3">
            <a:extLst xmlns:a="http://schemas.openxmlformats.org/drawingml/2006/main">
              <a:ext uri="{FF2B5EF4-FFF2-40B4-BE49-F238E27FC236}">
                <a16:creationId xmlns:a16="http://schemas.microsoft.com/office/drawing/2014/main" id="{B286F8D9-8B15-497B-8D95-4171C022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910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스포츠법·AI 책임</a:t>
            </a:r>
          </a:p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Gemini 3.5 Flash</a:t>
            </a:r>
          </a:p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초기 입장 −100</a:t>
            </a:r>
          </a:p>
        </p:txBody>
      </p:sp>
      <p:sp>
        <p:nvSpPr>
          <p:cNvPr id="25" name="analysis-units">
            <a:extLst xmlns:a="http://schemas.openxmlformats.org/drawingml/2006/main">
              <a:ext uri="{FF2B5EF4-FFF2-40B4-BE49-F238E27FC236}">
                <a16:creationId xmlns:a16="http://schemas.microsoft.com/office/drawing/2014/main" id="{112E8B34-D0A2-4982-AB50-A2A6F9F7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분석 단위: 입장 변화 · 발언권 · 반박 · 근거 형식 · 감정 표현 · 논점 · 직접 반박 관계</a:t>
            </a:r>
          </a:p>
        </p:txBody>
      </p:sp>
    </p:spTree>
    <p:extLst>
      <p:ext uri="{BB962C8B-B14F-4D97-AF65-F5344CB8AC3E}">
        <p14:creationId xmlns:p14="http://schemas.microsoft.com/office/powerpoint/2010/main" val="1086935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2530C8-002D-4D1F-9CE3-7AB2B7DC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5회 모두 합의에 실패했고, 반박이 대화를 지배했다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571CB6-598B-4F23-BD99-09AF774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73270C1-C94D-4401-97DB-3E3CD2EC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db0eb1172408f"/>
          <a:stretch xmlns:a="http://schemas.openxmlformats.org/drawingml/2006/main"/>
        </p:blipFill>
        <p:spPr>
          <a:xfrm xmlns:a="http://schemas.openxmlformats.org/drawingml/2006/main">
            <a:off x="400050" y="2348590"/>
            <a:ext cx="11391900" cy="998769"/>
          </a:xfrm>
          <a:prstGeom xmlns:a="http://schemas.openxmlformats.org/drawingml/2006/main" prst="rect">
            <a:avLst/>
          </a:prstGeom>
        </p:spPr>
      </p:pic>
      <p:sp>
        <p:nvSpPr>
          <p:cNvPr id="5" name="mean-stat">
            <a:extLst xmlns:a="http://schemas.openxmlformats.org/drawingml/2006/main">
              <a:ext uri="{FF2B5EF4-FFF2-40B4-BE49-F238E27FC236}">
                <a16:creationId xmlns:a16="http://schemas.microsoft.com/office/drawing/2014/main" id="{E99B9274-CF06-4850-871C-8BC56995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집단 평균 −1.45</a:t>
            </a:r>
          </a:p>
        </p:txBody>
      </p:sp>
      <p:sp>
        <p:nvSpPr>
          <p:cNvPr id="6" name="mean-label">
            <a:extLst xmlns:a="http://schemas.openxmlformats.org/drawingml/2006/main">
              <a:ext uri="{FF2B5EF4-FFF2-40B4-BE49-F238E27FC236}">
                <a16:creationId xmlns:a16="http://schemas.microsoft.com/office/drawing/2014/main" id="{289A84C4-7AAA-4F77-97E0-ED25F716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겉으로는 중립에 가까움</a:t>
            </a:r>
          </a:p>
        </p:txBody>
      </p:sp>
      <p:sp>
        <p:nvSpPr>
          <p:cNvPr id="7" name="extreme-stat">
            <a:extLst xmlns:a="http://schemas.openxmlformats.org/drawingml/2006/main">
              <a:ext uri="{FF2B5EF4-FFF2-40B4-BE49-F238E27FC236}">
                <a16:creationId xmlns:a16="http://schemas.microsoft.com/office/drawing/2014/main" id="{682C2E6D-5AE4-4AEF-AD1D-EFC05D84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rPr>
              <a:t>개인 입장 강도 95.55</a:t>
            </a:r>
          </a:p>
        </p:txBody>
      </p:sp>
      <p:sp>
        <p:nvSpPr>
          <p:cNvPr id="8" name="extreme-label">
            <a:extLst xmlns:a="http://schemas.openxmlformats.org/drawingml/2006/main">
              <a:ext uri="{FF2B5EF4-FFF2-40B4-BE49-F238E27FC236}">
                <a16:creationId xmlns:a16="http://schemas.microsoft.com/office/drawing/2014/main" id="{027E37E6-0804-4FFB-94D0-B8DEE2E8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10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실제로는 극단적 양극화</a:t>
            </a:r>
          </a:p>
        </p:txBody>
      </p:sp>
      <p:sp>
        <p:nvSpPr>
          <p:cNvPr id="9" name="reversal-stat">
            <a:extLst xmlns:a="http://schemas.openxmlformats.org/drawingml/2006/main">
              <a:ext uri="{FF2B5EF4-FFF2-40B4-BE49-F238E27FC236}">
                <a16:creationId xmlns:a16="http://schemas.microsoft.com/office/drawing/2014/main" id="{1DB6203A-0011-4DA4-8573-72C9496E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입장 반전 0회</a:t>
            </a:r>
          </a:p>
        </p:txBody>
      </p:sp>
      <p:sp>
        <p:nvSpPr>
          <p:cNvPr id="10" name="reversal-label">
            <a:extLst xmlns:a="http://schemas.openxmlformats.org/drawingml/2006/main">
              <a:ext uri="{FF2B5EF4-FFF2-40B4-BE49-F238E27FC236}">
                <a16:creationId xmlns:a16="http://schemas.microsoft.com/office/drawing/2014/main" id="{06E3805C-7CA6-420B-84B9-C909B501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1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진영 안에서 강도만 조정</a:t>
            </a:r>
          </a:p>
        </p:txBody>
      </p:sp>
      <p:sp>
        <p:nvSpPr>
          <p:cNvPr id="11" name="kpi-takeaway">
            <a:extLst xmlns:a="http://schemas.openxmlformats.org/drawingml/2006/main">
              <a:ext uri="{FF2B5EF4-FFF2-40B4-BE49-F238E27FC236}">
                <a16:creationId xmlns:a16="http://schemas.microsoft.com/office/drawing/2014/main" id="{FBB8E100-761A-4EBE-A5E5-F790A14F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핵심: 평균 0에 가까움은 합의가 아니라 +100과 −100의 상쇄다.</a:t>
            </a:r>
          </a:p>
        </p:txBody>
      </p:sp>
    </p:spTree>
    <p:extLst>
      <p:ext uri="{BB962C8B-B14F-4D97-AF65-F5344CB8AC3E}">
        <p14:creationId xmlns:p14="http://schemas.microsoft.com/office/powerpoint/2010/main" val="699605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8674A-6BFA-4805-B2D3-6802D8F1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‘중립 평균’ 뒤에는 거의 100점짜리 양극화가 숨어 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C815D6-38E0-4A4D-BC95-E9C4A97F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5693F26-B2BD-476F-9006-BFDAFFAE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d8e8192344ab3"/>
          <a:stretch xmlns:a="http://schemas.openxmlformats.org/drawingml/2006/main"/>
        </p:blipFill>
        <p:spPr>
          <a:xfrm xmlns:a="http://schemas.openxmlformats.org/drawingml/2006/main">
            <a:off x="381000" y="1823839"/>
            <a:ext cx="11430000" cy="2867422"/>
          </a:xfrm>
          <a:prstGeom xmlns:a="http://schemas.openxmlformats.org/drawingml/2006/main" prst="rect">
            <a:avLst/>
          </a:prstGeom>
        </p:spPr>
      </p:pic>
      <p:sp>
        <p:nvSpPr>
          <p:cNvPr id="5" name="interpretation-band">
            <a:extLst xmlns:a="http://schemas.openxmlformats.org/drawingml/2006/main">
              <a:ext uri="{FF2B5EF4-FFF2-40B4-BE49-F238E27FC236}">
                <a16:creationId xmlns:a16="http://schemas.microsoft.com/office/drawing/2014/main" id="{79E04AB4-AA3A-417A-850A-641E6366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277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olarization-example">
            <a:extLst xmlns:a="http://schemas.openxmlformats.org/drawingml/2006/main">
              <a:ext uri="{FF2B5EF4-FFF2-40B4-BE49-F238E27FC236}">
                <a16:creationId xmlns:a16="http://schemas.microsoft.com/office/drawing/2014/main" id="{1D0E17A9-92C1-4BE0-AA0F-8BBF7F48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1072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3회차 집단 평균은 0.0이지만 최종 입장은 +100, +100, −100, −100이었다.</a:t>
            </a:r>
          </a:p>
        </p:txBody>
      </p:sp>
      <p:sp>
        <p:nvSpPr>
          <p:cNvPr id="7" name="polarization-method">
            <a:extLst xmlns:a="http://schemas.openxmlformats.org/drawingml/2006/main">
              <a:ext uri="{FF2B5EF4-FFF2-40B4-BE49-F238E27FC236}">
                <a16:creationId xmlns:a16="http://schemas.microsoft.com/office/drawing/2014/main" id="{E516A191-1CD0-4E11-9C82-D1CEE82A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1072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따라서 평균과 함께 찬반 비율·분산·평균 절대 강도를 같이 봐야 한다.</a:t>
            </a:r>
          </a:p>
        </p:txBody>
      </p:sp>
    </p:spTree>
    <p:extLst>
      <p:ext uri="{BB962C8B-B14F-4D97-AF65-F5344CB8AC3E}">
        <p14:creationId xmlns:p14="http://schemas.microsoft.com/office/powerpoint/2010/main" val="1086702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0E3CCC-04EE-40F7-9E7F-0E9E36C9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윤서아와 박도현만 같은 진영 안에서 강도를 조정했다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51329D-2470-4FEA-A655-38F00F88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24A060-5BC7-41D6-9CA6-72DFD3D3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fa4c4119f4b05"/>
          <a:stretch xmlns:a="http://schemas.openxmlformats.org/drawingml/2006/main"/>
        </p:blipFill>
        <p:spPr>
          <a:xfrm xmlns:a="http://schemas.openxmlformats.org/drawingml/2006/main">
            <a:off x="400050" y="1404789"/>
            <a:ext cx="11391900" cy="3114973"/>
          </a:xfrm>
          <a:prstGeom xmlns:a="http://schemas.openxmlformats.org/drawingml/2006/main" prst="rect">
            <a:avLst/>
          </a:prstGeom>
        </p:spPr>
      </p:pic>
      <p:sp>
        <p:nvSpPr>
          <p:cNvPr id="5" name="fixed-label">
            <a:extLst xmlns:a="http://schemas.openxmlformats.org/drawingml/2006/main">
              <a:ext uri="{FF2B5EF4-FFF2-40B4-BE49-F238E27FC236}">
                <a16:creationId xmlns:a16="http://schemas.microsoft.com/office/drawing/2014/main" id="{91E5C985-111E-4897-A56B-ECBFC2EF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완전 고정</a:t>
            </a:r>
          </a:p>
        </p:txBody>
      </p:sp>
      <p:sp>
        <p:nvSpPr>
          <p:cNvPr id="6" name="fixed-agents">
            <a:extLst xmlns:a="http://schemas.openxmlformats.org/drawingml/2006/main">
              <a:ext uri="{FF2B5EF4-FFF2-40B4-BE49-F238E27FC236}">
                <a16:creationId xmlns:a16="http://schemas.microsoft.com/office/drawing/2014/main" id="{525F20C3-54B6-4CFB-AA7C-E7ED9DD9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김민석 +100 · 한지우 −100</a:t>
            </a:r>
          </a:p>
        </p:txBody>
      </p:sp>
      <p:sp>
        <p:nvSpPr>
          <p:cNvPr id="7" name="soft-label">
            <a:extLst xmlns:a="http://schemas.openxmlformats.org/drawingml/2006/main">
              <a:ext uri="{FF2B5EF4-FFF2-40B4-BE49-F238E27FC236}">
                <a16:creationId xmlns:a16="http://schemas.microsoft.com/office/drawing/2014/main" id="{A8A6561F-39E6-4BEB-A0F2-57909BEA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86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조건부 완화</a:t>
            </a:r>
          </a:p>
        </p:txBody>
      </p:sp>
      <p:sp>
        <p:nvSpPr>
          <p:cNvPr id="8" name="soft-agents">
            <a:extLst xmlns:a="http://schemas.openxmlformats.org/drawingml/2006/main">
              <a:ext uri="{FF2B5EF4-FFF2-40B4-BE49-F238E27FC236}">
                <a16:creationId xmlns:a16="http://schemas.microsoft.com/office/drawing/2014/main" id="{4F838D19-55EE-45EA-BF6D-F6515AA0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48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윤서아 −11.8점 · 박도현 +6.0점</a:t>
            </a:r>
          </a:p>
        </p:txBody>
      </p:sp>
      <p:sp>
        <p:nvSpPr>
          <p:cNvPr id="9" name="limit-label">
            <a:extLst xmlns:a="http://schemas.openxmlformats.org/drawingml/2006/main">
              <a:ext uri="{FF2B5EF4-FFF2-40B4-BE49-F238E27FC236}">
                <a16:creationId xmlns:a16="http://schemas.microsoft.com/office/drawing/2014/main" id="{AFD6C500-848B-433C-8F5A-ECDDA978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변화의 한계</a:t>
            </a:r>
          </a:p>
        </p:txBody>
      </p:sp>
      <p:sp>
        <p:nvSpPr>
          <p:cNvPr id="10" name="limit-copy">
            <a:extLst xmlns:a="http://schemas.openxmlformats.org/drawingml/2006/main">
              <a:ext uri="{FF2B5EF4-FFF2-40B4-BE49-F238E27FC236}">
                <a16:creationId xmlns:a16="http://schemas.microsoft.com/office/drawing/2014/main" id="{55473013-3B0A-445E-AB51-73C8CF93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48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rPr>
              <a:t>변화 8회 · 반전 0회</a:t>
            </a:r>
          </a:p>
        </p:txBody>
      </p:sp>
      <p:sp>
        <p:nvSpPr>
          <p:cNvPr id="11" name="stance-takeaway">
            <a:extLst xmlns:a="http://schemas.openxmlformats.org/drawingml/2006/main">
              <a:ext uri="{FF2B5EF4-FFF2-40B4-BE49-F238E27FC236}">
                <a16:creationId xmlns:a16="http://schemas.microsoft.com/office/drawing/2014/main" id="{3594DC40-A406-4460-AEBD-9E45D869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점수는 움직였지만 찬반 진영은 한 번도 바뀌지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283353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630BFF-D57B-4849-9B99-7E7A0A9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반복 실행은 결론보다 ‘완화 폭’을 바꿨다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EC4E95-BDA6-4CCC-91F2-FC672600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C49B142-63C1-4087-BF68-67BF3A33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d1dab9ebd42e8"/>
          <a:stretch xmlns:a="http://schemas.openxmlformats.org/drawingml/2006/main"/>
        </p:blipFill>
        <p:spPr>
          <a:xfrm xmlns:a="http://schemas.openxmlformats.org/drawingml/2006/main">
            <a:off x="707377" y="1162050"/>
            <a:ext cx="10777245" cy="4724400"/>
          </a:xfrm>
          <a:prstGeom xmlns:a="http://schemas.openxmlformats.org/drawingml/2006/main" prst="rect">
            <a:avLst/>
          </a:prstGeom>
        </p:spPr>
      </p:pic>
      <p:sp>
        <p:nvSpPr>
          <p:cNvPr id="5" name="facet-takeaway">
            <a:extLst xmlns:a="http://schemas.openxmlformats.org/drawingml/2006/main">
              <a:ext uri="{FF2B5EF4-FFF2-40B4-BE49-F238E27FC236}">
                <a16:creationId xmlns:a16="http://schemas.microsoft.com/office/drawing/2014/main" id="{58C3E263-CA85-4A08-8994-1AF36941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윤서아 +78~+100 · 박도현 −100~−85 · 김민석과 한지우는 매회 극단값 유지</a:t>
            </a:r>
          </a:p>
        </p:txBody>
      </p:sp>
    </p:spTree>
    <p:extLst>
      <p:ext uri="{BB962C8B-B14F-4D97-AF65-F5344CB8AC3E}">
        <p14:creationId xmlns:p14="http://schemas.microsoft.com/office/powerpoint/2010/main" val="182340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159DD3-E767-42AC-8A1C-54EBABD8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발언권과 감정 강도는 실행마다 크게 달라졌다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2D8C5C-D3C9-4DE8-8C1D-4DA62201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5758715-E1DF-42E3-862B-23FD6E31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a6999505b43a8"/>
          <a:stretch xmlns:a="http://schemas.openxmlformats.org/drawingml/2006/main"/>
        </p:blipFill>
        <p:spPr>
          <a:xfrm xmlns:a="http://schemas.openxmlformats.org/drawingml/2006/main">
            <a:off x="419100" y="1570633"/>
            <a:ext cx="5429250" cy="1621234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0e75e4b4c4fe9"/>
          <a:stretch xmlns:a="http://schemas.openxmlformats.org/drawingml/2006/main"/>
        </p:blipFill>
        <p:spPr>
          <a:xfrm xmlns:a="http://schemas.openxmlformats.org/drawingml/2006/main">
            <a:off x="6115050" y="1499493"/>
            <a:ext cx="5619750" cy="2868414"/>
          </a:xfrm>
          <a:prstGeom xmlns:a="http://schemas.openxmlformats.org/drawingml/2006/main" prst="rect">
            <a:avLst/>
          </a:prstGeom>
        </p:spPr>
      </p:pic>
      <p:sp>
        <p:nvSpPr>
          <p:cNvPr id="6" name="run3-label">
            <a:extLst xmlns:a="http://schemas.openxmlformats.org/drawingml/2006/main">
              <a:ext uri="{FF2B5EF4-FFF2-40B4-BE49-F238E27FC236}">
                <a16:creationId xmlns:a16="http://schemas.microsoft.com/office/drawing/2014/main" id="{20A0CFCC-C131-4FC4-90DF-472E1626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rPr>
              <a:t>3회차</a:t>
            </a:r>
          </a:p>
        </p:txBody>
      </p:sp>
      <p:sp>
        <p:nvSpPr>
          <p:cNvPr id="7" name="run3-copy">
            <a:extLst xmlns:a="http://schemas.openxmlformats.org/drawingml/2006/main">
              <a:ext uri="{FF2B5EF4-FFF2-40B4-BE49-F238E27FC236}">
                <a16:creationId xmlns:a16="http://schemas.microsoft.com/office/drawing/2014/main" id="{E8BC23B3-2DFF-4383-9D46-3762DAB0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한지우 8회 · 박도현 1회</a:t>
            </a:r>
          </a:p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발언권이 가장 불균형</a:t>
            </a:r>
          </a:p>
        </p:txBody>
      </p:sp>
      <p:sp>
        <p:nvSpPr>
          <p:cNvPr id="8" name="run2-label">
            <a:extLst xmlns:a="http://schemas.openxmlformats.org/drawingml/2006/main">
              <a:ext uri="{FF2B5EF4-FFF2-40B4-BE49-F238E27FC236}">
                <a16:creationId xmlns:a16="http://schemas.microsoft.com/office/drawing/2014/main" id="{1430C539-62F0-4619-A25D-996ED5F4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2회차</a:t>
            </a:r>
          </a:p>
        </p:txBody>
      </p:sp>
      <p:sp>
        <p:nvSpPr>
          <p:cNvPr id="9" name="run2-copy">
            <a:extLst xmlns:a="http://schemas.openxmlformats.org/drawingml/2006/main">
              <a:ext uri="{FF2B5EF4-FFF2-40B4-BE49-F238E27FC236}">
                <a16:creationId xmlns:a16="http://schemas.microsoft.com/office/drawing/2014/main" id="{03DCB128-2880-4C0F-8F26-60EF9E82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격한 표현 33.3%로 최고</a:t>
            </a:r>
          </a:p>
        </p:txBody>
      </p:sp>
      <p:sp>
        <p:nvSpPr>
          <p:cNvPr id="10" name="style-takeaway">
            <a:extLst xmlns:a="http://schemas.openxmlformats.org/drawingml/2006/main">
              <a:ext uri="{FF2B5EF4-FFF2-40B4-BE49-F238E27FC236}">
                <a16:creationId xmlns:a16="http://schemas.microsoft.com/office/drawing/2014/main" id="{7829CE33-65E4-4666-B7D4-60D0F184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341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매운맛은 직접 욕설보다 높은 반박률과 확신도로 나타났다.</a:t>
            </a:r>
          </a:p>
        </p:txBody>
      </p:sp>
    </p:spTree>
    <p:extLst>
      <p:ext uri="{BB962C8B-B14F-4D97-AF65-F5344CB8AC3E}">
        <p14:creationId xmlns:p14="http://schemas.microsoft.com/office/powerpoint/2010/main" val="1223291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9EB38F-EEF6-4665-897B-A24C39D9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가장 공격적인 참가자가 토론 구조까지 주도했다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8E3E76-8606-44CA-8476-AB5FC5B1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A591C7F-58DF-4E90-A699-68EB481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a271cdcf14b22"/>
          <a:stretch xmlns:a="http://schemas.openxmlformats.org/drawingml/2006/main"/>
        </p:blipFill>
        <p:spPr>
          <a:xfrm xmlns:a="http://schemas.openxmlformats.org/drawingml/2006/main">
            <a:off x="381000" y="1600175"/>
            <a:ext cx="8820150" cy="4019600"/>
          </a:xfrm>
          <a:prstGeom xmlns:a="http://schemas.openxmlformats.org/drawingml/2006/main" prst="rect">
            <a:avLst/>
          </a:prstGeom>
        </p:spPr>
      </p:pic>
      <p:sp>
        <p:nvSpPr>
          <p:cNvPr id="5" name="behavior-rail">
            <a:extLst xmlns:a="http://schemas.openxmlformats.org/drawingml/2006/main">
              <a:ext uri="{FF2B5EF4-FFF2-40B4-BE49-F238E27FC236}">
                <a16:creationId xmlns:a16="http://schemas.microsoft.com/office/drawing/2014/main" id="{FB37756A-A6E0-4E94-9BD5-1A88066A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71600"/>
            <a:ext cx="22669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minant-name">
            <a:extLst xmlns:a="http://schemas.openxmlformats.org/drawingml/2006/main">
              <a:ext uri="{FF2B5EF4-FFF2-40B4-BE49-F238E27FC236}">
                <a16:creationId xmlns:a16="http://schemas.microsoft.com/office/drawing/2014/main" id="{4B336FED-0068-488D-8993-61AB03D9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764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rPr>
              <a:t>한지우</a:t>
            </a:r>
          </a:p>
        </p:txBody>
      </p:sp>
      <p:sp>
        <p:nvSpPr>
          <p:cNvPr id="7" name="dominant-turns">
            <a:extLst xmlns:a="http://schemas.openxmlformats.org/drawingml/2006/main">
              <a:ext uri="{FF2B5EF4-FFF2-40B4-BE49-F238E27FC236}">
                <a16:creationId xmlns:a16="http://schemas.microsoft.com/office/drawing/2014/main" id="{D8BB68EB-D7DD-47FB-8379-47D36A12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62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30회</a:t>
            </a:r>
          </a:p>
        </p:txBody>
      </p:sp>
      <p:sp>
        <p:nvSpPr>
          <p:cNvPr id="8" name="dominant-turns-label">
            <a:extLst xmlns:a="http://schemas.openxmlformats.org/drawingml/2006/main">
              <a:ext uri="{FF2B5EF4-FFF2-40B4-BE49-F238E27FC236}">
                <a16:creationId xmlns:a16="http://schemas.microsoft.com/office/drawing/2014/main" id="{2C7C5FC6-5E4D-444D-AB92-3442ACBE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38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총 발언 수</a:t>
            </a:r>
          </a:p>
        </p:txBody>
      </p:sp>
      <p:sp>
        <p:nvSpPr>
          <p:cNvPr id="9" name="dominant-rebuttal">
            <a:extLst xmlns:a="http://schemas.openxmlformats.org/drawingml/2006/main">
              <a:ext uri="{FF2B5EF4-FFF2-40B4-BE49-F238E27FC236}">
                <a16:creationId xmlns:a16="http://schemas.microsoft.com/office/drawing/2014/main" id="{1FFD74DC-0E73-4C7A-942F-9FAD62BC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96.7%</a:t>
            </a:r>
          </a:p>
        </p:txBody>
      </p:sp>
      <p:sp>
        <p:nvSpPr>
          <p:cNvPr id="10" name="dominant-rebuttal-label">
            <a:extLst xmlns:a="http://schemas.openxmlformats.org/drawingml/2006/main">
              <a:ext uri="{FF2B5EF4-FFF2-40B4-BE49-F238E27FC236}">
                <a16:creationId xmlns:a16="http://schemas.microsoft.com/office/drawing/2014/main" id="{161347D2-FB4A-4133-8F7C-48CB5C96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62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반박 비율</a:t>
            </a:r>
          </a:p>
        </p:txBody>
      </p:sp>
      <p:sp>
        <p:nvSpPr>
          <p:cNvPr id="11" name="dominant-confidence">
            <a:extLst xmlns:a="http://schemas.openxmlformats.org/drawingml/2006/main">
              <a:ext uri="{FF2B5EF4-FFF2-40B4-BE49-F238E27FC236}">
                <a16:creationId xmlns:a16="http://schemas.microsoft.com/office/drawing/2014/main" id="{A8CD02F3-4546-407C-8FB0-F7E5F1BF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10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94.7%</a:t>
            </a:r>
          </a:p>
        </p:txBody>
      </p:sp>
      <p:sp>
        <p:nvSpPr>
          <p:cNvPr id="12" name="dominant-confidence-label">
            <a:extLst xmlns:a="http://schemas.openxmlformats.org/drawingml/2006/main">
              <a:ext uri="{FF2B5EF4-FFF2-40B4-BE49-F238E27FC236}">
                <a16:creationId xmlns:a16="http://schemas.microsoft.com/office/drawing/2014/main" id="{D4AFEABA-02F8-4ABE-B5E0-0CD1F405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86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평균 확신도</a:t>
            </a:r>
          </a:p>
        </p:txBody>
      </p:sp>
      <p:sp>
        <p:nvSpPr>
          <p:cNvPr id="13" name="behavior-takeaway">
            <a:extLst xmlns:a="http://schemas.openxmlformats.org/drawingml/2006/main">
              <a:ext uri="{FF2B5EF4-FFF2-40B4-BE49-F238E27FC236}">
                <a16:creationId xmlns:a16="http://schemas.microsoft.com/office/drawing/2014/main" id="{C441A5FD-01AC-440C-A362-A3E48EE3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윤서아는 근거 형식이 가장 많았고, 한지우는 반박과 확신도에서 가장 강했다.</a:t>
            </a:r>
          </a:p>
        </p:txBody>
      </p:sp>
    </p:spTree>
    <p:extLst>
      <p:ext uri="{BB962C8B-B14F-4D97-AF65-F5344CB8AC3E}">
        <p14:creationId xmlns:p14="http://schemas.microsoft.com/office/powerpoint/2010/main" val="1665905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966F9B-77C5-4641-87EE-445E717D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논쟁의 중심은 정확도에서 투명성·책임으로 이동했다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87717A-A673-4A7D-99AE-7AF90471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4B75F3-9B14-46A8-B566-7968A543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cd78ba1494c3c"/>
          <a:stretch xmlns:a="http://schemas.openxmlformats.org/drawingml/2006/main"/>
        </p:blipFill>
        <p:spPr>
          <a:xfrm xmlns:a="http://schemas.openxmlformats.org/drawingml/2006/main">
            <a:off x="361950" y="1312466"/>
            <a:ext cx="11468100" cy="4061619"/>
          </a:xfrm>
          <a:prstGeom xmlns:a="http://schemas.openxmlformats.org/drawingml/2006/main" prst="rect">
            <a:avLst/>
          </a:prstGeom>
        </p:spPr>
      </p:pic>
      <p:sp>
        <p:nvSpPr>
          <p:cNvPr id="5" name="theme-one-stat">
            <a:extLst xmlns:a="http://schemas.openxmlformats.org/drawingml/2006/main">
              <a:ext uri="{FF2B5EF4-FFF2-40B4-BE49-F238E27FC236}">
                <a16:creationId xmlns:a16="http://schemas.microsoft.com/office/drawing/2014/main" id="{C9675200-F430-4A96-939C-BBFDE835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71회</a:t>
            </a:r>
          </a:p>
        </p:txBody>
      </p:sp>
      <p:sp>
        <p:nvSpPr>
          <p:cNvPr id="6" name="theme-one-label">
            <a:extLst xmlns:a="http://schemas.openxmlformats.org/drawingml/2006/main">
              <a:ext uri="{FF2B5EF4-FFF2-40B4-BE49-F238E27FC236}">
                <a16:creationId xmlns:a16="http://schemas.microsoft.com/office/drawing/2014/main" id="{9C990B55-156F-4652-8A47-3D550FEB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9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투명성·책임</a:t>
            </a:r>
          </a:p>
        </p:txBody>
      </p:sp>
      <p:sp>
        <p:nvSpPr>
          <p:cNvPr id="7" name="theme-two-stat">
            <a:extLst xmlns:a="http://schemas.openxmlformats.org/drawingml/2006/main">
              <a:ext uri="{FF2B5EF4-FFF2-40B4-BE49-F238E27FC236}">
                <a16:creationId xmlns:a16="http://schemas.microsoft.com/office/drawing/2014/main" id="{71949E32-9FD1-4534-B32A-50BF2C37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34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69회</a:t>
            </a:r>
          </a:p>
        </p:txBody>
      </p:sp>
      <p:sp>
        <p:nvSpPr>
          <p:cNvPr id="8" name="theme-two-label">
            <a:extLst xmlns:a="http://schemas.openxmlformats.org/drawingml/2006/main">
              <a:ext uri="{FF2B5EF4-FFF2-40B4-BE49-F238E27FC236}">
                <a16:creationId xmlns:a16="http://schemas.microsoft.com/office/drawing/2014/main" id="{23933A75-2CF9-4168-9A93-FA2BF5A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91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AI·자동화 기술</a:t>
            </a:r>
          </a:p>
        </p:txBody>
      </p:sp>
      <p:sp>
        <p:nvSpPr>
          <p:cNvPr id="9" name="theme-takeaway">
            <a:extLst xmlns:a="http://schemas.openxmlformats.org/drawingml/2006/main">
              <a:ext uri="{FF2B5EF4-FFF2-40B4-BE49-F238E27FC236}">
                <a16:creationId xmlns:a16="http://schemas.microsoft.com/office/drawing/2014/main" id="{D39CB55E-EDC7-4BA6-A78A-244B29D0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29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정확성 대 흐름 → 누가 기준을 공개하고 오류 책임을 질 것인가</a:t>
            </a:r>
          </a:p>
        </p:txBody>
      </p:sp>
    </p:spTree>
    <p:extLst>
      <p:ext uri="{BB962C8B-B14F-4D97-AF65-F5344CB8AC3E}">
        <p14:creationId xmlns:p14="http://schemas.microsoft.com/office/powerpoint/2010/main" val="535993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9E7370-A7A5-4C45-A9F7-D9921B1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핵심 대립축은 ‘기술 통제 가능’ 대 ‘책임 통제 불가능’이었다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85B8B4-AF51-431C-A1CA-19D476BF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6C4BBE4-4383-402E-A44B-CF383253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15a59c81b4fc5"/>
          <a:stretch xmlns:a="http://schemas.openxmlformats.org/drawingml/2006/main"/>
        </p:blipFill>
        <p:spPr>
          <a:xfrm xmlns:a="http://schemas.openxmlformats.org/drawingml/2006/main">
            <a:off x="400050" y="1586954"/>
            <a:ext cx="6534150" cy="1531441"/>
          </a:xfrm>
          <a:prstGeom xmlns:a="http://schemas.openxmlformats.org/drawingml/2006/main" prst="rect">
            <a:avLst/>
          </a:prstGeom>
        </p:spPr>
      </p:pic>
      <p:sp>
        <p:nvSpPr>
          <p:cNvPr id="5" name="network-rail">
            <a:extLst xmlns:a="http://schemas.openxmlformats.org/drawingml/2006/main">
              <a:ext uri="{FF2B5EF4-FFF2-40B4-BE49-F238E27FC236}">
                <a16:creationId xmlns:a16="http://schemas.microsoft.com/office/drawing/2014/main" id="{866FC5B8-5E54-4B55-A9D9-1BFF937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4495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in-edge">
            <a:extLst xmlns:a="http://schemas.openxmlformats.org/drawingml/2006/main">
              <a:ext uri="{FF2B5EF4-FFF2-40B4-BE49-F238E27FC236}">
                <a16:creationId xmlns:a16="http://schemas.microsoft.com/office/drawing/2014/main" id="{2C79BCE6-E16F-420D-8AF8-7D57CC44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430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rPr>
              <a:t>한지우 → 김민석</a:t>
            </a:r>
          </a:p>
        </p:txBody>
      </p:sp>
      <p:sp>
        <p:nvSpPr>
          <p:cNvPr id="7" name="main-edge-copy">
            <a:extLst xmlns:a="http://schemas.openxmlformats.org/drawingml/2006/main">
              <a:ext uri="{FF2B5EF4-FFF2-40B4-BE49-F238E27FC236}">
                <a16:creationId xmlns:a16="http://schemas.microsoft.com/office/drawing/2014/main" id="{E5D3A2FB-9AB0-4745-8685-66D3C3C8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764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직접 반박 9회 · 전체에서 가장 큰 연결</a:t>
            </a:r>
          </a:p>
        </p:txBody>
      </p:sp>
      <p:sp>
        <p:nvSpPr>
          <p:cNvPr id="8" name="main-edge-meaning">
            <a:extLst xmlns:a="http://schemas.openxmlformats.org/drawingml/2006/main">
              <a:ext uri="{FF2B5EF4-FFF2-40B4-BE49-F238E27FC236}">
                <a16:creationId xmlns:a16="http://schemas.microsoft.com/office/drawing/2014/main" id="{33D8E82B-0AB6-4DBE-BB63-B3205C60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62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기술 낙관론을 법·책임 관점에서 집중 검증</a:t>
            </a:r>
          </a:p>
        </p:txBody>
      </p:sp>
      <p:sp>
        <p:nvSpPr>
          <p:cNvPr id="9" name="argument-divider">
            <a:extLst xmlns:a="http://schemas.openxmlformats.org/drawingml/2006/main">
              <a:ext uri="{FF2B5EF4-FFF2-40B4-BE49-F238E27FC236}">
                <a16:creationId xmlns:a16="http://schemas.microsoft.com/office/drawing/2014/main" id="{78FB6A6F-B28F-444A-BDDD-86B857AD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ro-heading">
            <a:extLst xmlns:a="http://schemas.openxmlformats.org/drawingml/2006/main">
              <a:ext uri="{FF2B5EF4-FFF2-40B4-BE49-F238E27FC236}">
                <a16:creationId xmlns:a16="http://schemas.microsoft.com/office/drawing/2014/main" id="{CA36DEEC-DA58-4AAA-AE26-A96DF290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찬성 진영</a:t>
            </a:r>
          </a:p>
        </p:txBody>
      </p:sp>
      <p:sp>
        <p:nvSpPr>
          <p:cNvPr id="11" name="pro-arguments">
            <a:extLst xmlns:a="http://schemas.openxmlformats.org/drawingml/2006/main">
              <a:ext uri="{FF2B5EF4-FFF2-40B4-BE49-F238E27FC236}">
                <a16:creationId xmlns:a16="http://schemas.microsoft.com/office/drawing/2014/main" id="{3F9E9679-68DD-4ECC-941F-E61D0AFE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객관적 고영향 판정 자동화</a:t>
            </a:r>
          </a:p>
          <a:p xmlns:a="http://schemas.openxmlformats.org/drawingml/2006/main">
            <a:pPr>
              <a:def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30초 제한과 현장 판정 복귀</a:t>
            </a:r>
          </a:p>
          <a:p xmlns:a="http://schemas.openxmlformats.org/drawingml/2006/main">
            <a:pPr>
              <a:def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로그 공개·독립 감사·공급업체 제재</a:t>
            </a:r>
          </a:p>
        </p:txBody>
      </p:sp>
      <p:sp>
        <p:nvSpPr>
          <p:cNvPr id="12" name="con-heading">
            <a:extLst xmlns:a="http://schemas.openxmlformats.org/drawingml/2006/main">
              <a:ext uri="{FF2B5EF4-FFF2-40B4-BE49-F238E27FC236}">
                <a16:creationId xmlns:a16="http://schemas.microsoft.com/office/drawing/2014/main" id="{B7F5FD28-2685-4DAC-B6A2-306AA19B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D9589B"/>
                </a:solidFill>
                <a:latin typeface="Malgun Gothic"/>
                <a:ea typeface="Malgun Gothic"/>
                <a:cs typeface="Malgun Gothic"/>
              </a:rPr>
              <a:t>반대 진영</a:t>
            </a:r>
          </a:p>
        </p:txBody>
      </p:sp>
      <p:sp>
        <p:nvSpPr>
          <p:cNvPr id="13" name="con-arguments">
            <a:extLst xmlns:a="http://schemas.openxmlformats.org/drawingml/2006/main">
              <a:ext uri="{FF2B5EF4-FFF2-40B4-BE49-F238E27FC236}">
                <a16:creationId xmlns:a16="http://schemas.microsoft.com/office/drawing/2014/main" id="{C7D4E74C-8003-4054-A88F-D55C9DAC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‘명백한 오류’도 해석이 갈림</a:t>
            </a:r>
          </a:p>
          <a:p xmlns:a="http://schemas.openxmlformats.org/drawingml/2006/main">
            <a:pPr>
              <a:def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블랙박스·영업비밀·공급업체 독점</a:t>
            </a:r>
          </a:p>
          <a:p xmlns:a="http://schemas.openxmlformats.org/drawingml/2006/main">
            <a:pPr>
              <a:def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잃은 승점과 우승은 사후 배상 불가능</a:t>
            </a:r>
          </a:p>
        </p:txBody>
      </p:sp>
    </p:spTree>
    <p:extLst>
      <p:ext uri="{BB962C8B-B14F-4D97-AF65-F5344CB8AC3E}">
        <p14:creationId xmlns:p14="http://schemas.microsoft.com/office/powerpoint/2010/main" val="889067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DE9610-9A66-471E-ACCB-6A78326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결론: 무제한 확대보다 ‘검증 가능한 제한적 도입’이 현실적이다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285467-D006-4B07-8787-C9DA6792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8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60687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F00D981-2E00-49DE-8A30-6362F00A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conditions-title">
            <a:extLst xmlns:a="http://schemas.openxmlformats.org/drawingml/2006/main">
              <a:ext uri="{FF2B5EF4-FFF2-40B4-BE49-F238E27FC236}">
                <a16:creationId xmlns:a16="http://schemas.microsoft.com/office/drawing/2014/main" id="{800938D9-8226-4893-916A-C4B44F75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토론이 만든 최소 공통 조건</a:t>
            </a:r>
          </a:p>
        </p:txBody>
      </p:sp>
      <p:sp>
        <p:nvSpPr>
          <p:cNvPr id="5" name="conditions-list">
            <a:extLst xmlns:a="http://schemas.openxmlformats.org/drawingml/2006/main">
              <a:ext uri="{FF2B5EF4-FFF2-40B4-BE49-F238E27FC236}">
                <a16:creationId xmlns:a16="http://schemas.microsoft.com/office/drawing/2014/main" id="{EFEA0F8E-7040-4397-8947-AD6BBD8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01  객관화 가능한 고영향 상황부터 제한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02  판정 시간 제한과 현장 판정 복귀 규칙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03  판정 기준·로그·오류율의 독립 감사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04  최종 설명 책임과 오류 책임 주체 명시</a:t>
            </a:r>
          </a:p>
        </p:txBody>
      </p:sp>
      <p:sp>
        <p:nvSpPr>
          <p:cNvPr id="6" name="center-divider">
            <a:extLst xmlns:a="http://schemas.openxmlformats.org/drawingml/2006/main">
              <a:ext uri="{FF2B5EF4-FFF2-40B4-BE49-F238E27FC236}">
                <a16:creationId xmlns:a16="http://schemas.microsoft.com/office/drawing/2014/main" id="{F600CC54-3402-4FDC-A8C8-00362B25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525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F55CBF37-31D2-4608-9B93-4985D425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다음 반복 실험에서 통제할 것</a:t>
            </a:r>
          </a:p>
        </p:txBody>
      </p:sp>
      <p:sp>
        <p:nvSpPr>
          <p:cNvPr id="8" name="next-list">
            <a:extLst xmlns:a="http://schemas.openxmlformats.org/drawingml/2006/main">
              <a:ext uri="{FF2B5EF4-FFF2-40B4-BE49-F238E27FC236}">
                <a16:creationId xmlns:a16="http://schemas.microsoft.com/office/drawing/2014/main" id="{F56A5721-C81A-4D11-9B07-A7B32F0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01  참가자별 발언 수와 순서 고정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02  동일 모델·다른 페르소나 통제군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03  차분·논리·감정 톤을 각각 5회 반복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04  주장별 출처와 사실 검증 결과 저장</a:t>
            </a:r>
          </a:p>
        </p:txBody>
      </p:sp>
      <p:sp>
        <p:nvSpPr>
          <p:cNvPr id="9" name="final-band">
            <a:extLst xmlns:a="http://schemas.openxmlformats.org/drawingml/2006/main">
              <a:ext uri="{FF2B5EF4-FFF2-40B4-BE49-F238E27FC236}">
                <a16:creationId xmlns:a16="http://schemas.microsoft.com/office/drawing/2014/main" id="{B1B98A44-A705-4EE8-BD3B-30C4643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inal-message">
            <a:extLst xmlns:a="http://schemas.openxmlformats.org/drawingml/2006/main">
              <a:ext uri="{FF2B5EF4-FFF2-40B4-BE49-F238E27FC236}">
                <a16:creationId xmlns:a16="http://schemas.microsoft.com/office/drawing/2014/main" id="{74A75ABA-CC97-4D38-8573-D97A045E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114"/>
                </a:solidFill>
                <a:latin typeface="Malgun Gothic"/>
                <a:ea typeface="Malgun Gothic"/>
                <a:cs typeface="Malgun Gothic"/>
              </a:rPr>
              <a:t>반복 토론은 참가자를 중립으로 만들지 않았고, 양 진영의 통제·책임 논리를 더 정교하게 만들었다.</a:t>
            </a:r>
          </a:p>
        </p:txBody>
      </p:sp>
    </p:spTree>
    <p:extLst>
      <p:ext uri="{BB962C8B-B14F-4D97-AF65-F5344CB8AC3E}">
        <p14:creationId xmlns:p14="http://schemas.microsoft.com/office/powerpoint/2010/main" val="1511844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2026-08-28T08:43:48.5960000Z</dcterms:created>
  <dcterms:modified xsi:type="dcterms:W3CDTF">2026-08-28T08:43:48.5960000Z</dcterms:modified>
</coreProperties>
</file>